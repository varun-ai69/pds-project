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81AEAAD-A172-0A67-50BE-F39E94839E83}">
          <p14:sldIdLst>
            <p14:sldId id="256"/>
            <p14:sldId id="257"/>
          </p14:sldIdLst>
        </p14:section>
        <p14:section name="Pipeline" id="{3BDC1B6E-9CF8-7E1D-65CC-9BC4665B6F9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Intelligence Layer" id="{5F55A90A-0E90-DA9C-0459-AB5265E531E6}">
          <p14:sldIdLst>
            <p14:sldId id="264"/>
            <p14:sldId id="265"/>
            <p14:sldId id="266"/>
            <p14:sldId id="267"/>
            <p14:sldId id="268"/>
          </p14:sldIdLst>
        </p14:section>
        <p14:section name="Results" id="{AA479A2E-2821-ED86-EB28-18B190E2CF7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1F2A"/>
                </a:solidFill>
                <a:latin typeface="+mn-lt"/>
              </a:rPr>
              <a:t>Per-class test accuracy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A857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T-72</c:v>
                </c:pt>
                <c:pt idx="1">
                  <c:v>BRDM-2</c:v>
                </c:pt>
                <c:pt idx="2">
                  <c:v>ZSU-23-4</c:v>
                </c:pt>
                <c:pt idx="3">
                  <c:v>ZIL-131</c:v>
                </c:pt>
                <c:pt idx="4">
                  <c:v>D7</c:v>
                </c:pt>
                <c:pt idx="5">
                  <c:v>BTR-70</c:v>
                </c:pt>
                <c:pt idx="6">
                  <c:v>BMP-2</c:v>
                </c:pt>
                <c:pt idx="7">
                  <c:v>BTR-60</c:v>
                </c:pt>
                <c:pt idx="8">
                  <c:v>T-62</c:v>
                </c:pt>
                <c:pt idx="9">
                  <c:v>2S1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99.6</c:v>
                </c:pt>
                <c:pt idx="4">
                  <c:v>99.3</c:v>
                </c:pt>
                <c:pt idx="5">
                  <c:v>99</c:v>
                </c:pt>
                <c:pt idx="6">
                  <c:v>96.9</c:v>
                </c:pt>
                <c:pt idx="7">
                  <c:v>96.9</c:v>
                </c:pt>
                <c:pt idx="8">
                  <c:v>94.9</c:v>
                </c:pt>
                <c:pt idx="9">
                  <c:v>94.5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15-804C-BCC5-18C7A9EC65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9E697-2064-914C-A67F-2A080D03D61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DF0E5-242F-C94F-8A1F-26511B7D8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14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3258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Title</a:t>
            </a:r>
            <a:endParaRPr lang="en-US" sz="5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CANOPUS-SAR  |  Sovereign SAR Defense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12" Type="http://schemas.openxmlformats.org/officeDocument/2006/relationships/image" Target="../media/image1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5.png" /><Relationship Id="rId11" Type="http://schemas.openxmlformats.org/officeDocument/2006/relationships/image" Target="../media/image10.png" /><Relationship Id="rId5" Type="http://schemas.openxmlformats.org/officeDocument/2006/relationships/image" Target="../media/image4.png" /><Relationship Id="rId10" Type="http://schemas.openxmlformats.org/officeDocument/2006/relationships/image" Target="../media/image9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17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20.png" /><Relationship Id="rId4" Type="http://schemas.openxmlformats.org/officeDocument/2006/relationships/image" Target="../media/image19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22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24.png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dar-ring-1"/>
          <p:cNvSpPr/>
          <p:nvPr/>
        </p:nvSpPr>
        <p:spPr>
          <a:xfrm>
            <a:off x="8961120" y="2788920"/>
            <a:ext cx="1280160" cy="1280160"/>
          </a:xfrm>
          <a:prstGeom prst="ellipse">
            <a:avLst/>
          </a:prstGeom>
          <a:ln w="15875">
            <a:solidFill>
              <a:schemeClr val="accent3"/>
            </a:solidFill>
            <a:prstDash val="solid"/>
          </a:ln>
        </p:spPr>
      </p:sp>
      <p:sp>
        <p:nvSpPr>
          <p:cNvPr id="3" name="radar-ring-2"/>
          <p:cNvSpPr/>
          <p:nvPr/>
        </p:nvSpPr>
        <p:spPr>
          <a:xfrm>
            <a:off x="8412480" y="2240280"/>
            <a:ext cx="2377440" cy="2377440"/>
          </a:xfrm>
          <a:prstGeom prst="ellipse">
            <a:avLst/>
          </a:prstGeom>
          <a:ln w="15875">
            <a:solidFill>
              <a:schemeClr val="accent3"/>
            </a:solidFill>
            <a:prstDash val="solid"/>
          </a:ln>
        </p:spPr>
      </p:sp>
      <p:sp>
        <p:nvSpPr>
          <p:cNvPr id="4" name="radar-ring-3"/>
          <p:cNvSpPr/>
          <p:nvPr/>
        </p:nvSpPr>
        <p:spPr>
          <a:xfrm>
            <a:off x="7863840" y="1691640"/>
            <a:ext cx="3474720" cy="3474720"/>
          </a:xfrm>
          <a:prstGeom prst="ellipse">
            <a:avLst/>
          </a:prstGeom>
          <a:ln w="15875">
            <a:solidFill>
              <a:schemeClr val="accent3"/>
            </a:solidFill>
            <a:prstDash val="solid"/>
          </a:ln>
        </p:spPr>
      </p:sp>
      <p:sp>
        <p:nvSpPr>
          <p:cNvPr id="5" name="radar-ring-4"/>
          <p:cNvSpPr/>
          <p:nvPr/>
        </p:nvSpPr>
        <p:spPr>
          <a:xfrm>
            <a:off x="7315200" y="1143000"/>
            <a:ext cx="4572000" cy="4572000"/>
          </a:xfrm>
          <a:prstGeom prst="ellipse">
            <a:avLst/>
          </a:prstGeom>
          <a:ln w="15875">
            <a:solidFill>
              <a:schemeClr val="accent3"/>
            </a:solidFill>
            <a:prstDash val="solid"/>
          </a:ln>
        </p:spPr>
      </p:sp>
      <p:sp>
        <p:nvSpPr>
          <p:cNvPr id="6" name="radar-axis-5"/>
          <p:cNvSpPr/>
          <p:nvPr/>
        </p:nvSpPr>
        <p:spPr>
          <a:xfrm>
            <a:off x="7315200" y="3429000"/>
            <a:ext cx="457200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" name="radar-axis-6"/>
          <p:cNvSpPr/>
          <p:nvPr/>
        </p:nvSpPr>
        <p:spPr>
          <a:xfrm>
            <a:off x="9601200" y="1143000"/>
            <a:ext cx="0" cy="457200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8" name="radar-target-7"/>
          <p:cNvSpPr/>
          <p:nvPr/>
        </p:nvSpPr>
        <p:spPr>
          <a:xfrm>
            <a:off x="8686800" y="246888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radar-target-8"/>
          <p:cNvSpPr/>
          <p:nvPr/>
        </p:nvSpPr>
        <p:spPr>
          <a:xfrm>
            <a:off x="10332720" y="292608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radar-target-9"/>
          <p:cNvSpPr/>
          <p:nvPr/>
        </p:nvSpPr>
        <p:spPr>
          <a:xfrm>
            <a:off x="9235440" y="4480560"/>
            <a:ext cx="182880" cy="1828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radar-target-10"/>
          <p:cNvSpPr/>
          <p:nvPr/>
        </p:nvSpPr>
        <p:spPr>
          <a:xfrm>
            <a:off x="10607040" y="4023360"/>
            <a:ext cx="182880" cy="1828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radar-target-11"/>
          <p:cNvSpPr/>
          <p:nvPr/>
        </p:nvSpPr>
        <p:spPr>
          <a:xfrm>
            <a:off x="8412480" y="3566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-12"/>
          <p:cNvSpPr txBox="1"/>
          <p:nvPr/>
        </p:nvSpPr>
        <p:spPr>
          <a:xfrm>
            <a:off x="731520" y="7772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SOVEREIGN SYNTHETIC APERTURE RADAR (SAR) DEFENSE INTELLIGENCE SYSTEM</a:t>
            </a:r>
            <a:endParaRPr lang="en-US" sz="1200" dirty="0"/>
          </a:p>
        </p:txBody>
      </p:sp>
      <p:sp>
        <p:nvSpPr>
          <p:cNvPr id="14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3258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CANOPUS-SAR</a:t>
            </a:r>
            <a:endParaRPr lang="en-US" sz="5600" dirty="0"/>
          </a:p>
        </p:txBody>
      </p:sp>
      <p:sp>
        <p:nvSpPr>
          <p:cNvPr id="15" name="text-13"/>
          <p:cNvSpPr txBox="1"/>
          <p:nvPr/>
        </p:nvSpPr>
        <p:spPr>
          <a:xfrm>
            <a:off x="731520" y="260604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Sovereign all-weather satellite reconnaissance, automated neural ATR and autonomous intelligence retrieval</a:t>
            </a:r>
            <a:endParaRPr lang="en-US" sz="2200" dirty="0"/>
          </a:p>
        </p:txBody>
      </p:sp>
      <p:sp>
        <p:nvSpPr>
          <p:cNvPr id="16" name="text-14"/>
          <p:cNvSpPr txBox="1"/>
          <p:nvPr/>
        </p:nvSpPr>
        <p:spPr>
          <a:xfrm>
            <a:off x="731520" y="4663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6"/>
                </a:solidFill>
              </a:rPr>
              <a:t>70</a:t>
            </a:r>
            <a:endParaRPr lang="en-US" sz="3800" dirty="0"/>
          </a:p>
        </p:txBody>
      </p:sp>
      <p:sp>
        <p:nvSpPr>
          <p:cNvPr id="17" name="text-15"/>
          <p:cNvSpPr txBox="1"/>
          <p:nvPr/>
        </p:nvSpPr>
        <p:spPr>
          <a:xfrm>
            <a:off x="73152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scenes cataloged</a:t>
            </a:r>
            <a:endParaRPr lang="en-US" sz="1400" dirty="0"/>
          </a:p>
        </p:txBody>
      </p:sp>
      <p:sp>
        <p:nvSpPr>
          <p:cNvPr id="18" name="text-16"/>
          <p:cNvSpPr txBox="1"/>
          <p:nvPr/>
        </p:nvSpPr>
        <p:spPr>
          <a:xfrm>
            <a:off x="2880360" y="4663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6"/>
                </a:solidFill>
              </a:rPr>
              <a:t>733</a:t>
            </a:r>
            <a:endParaRPr lang="en-US" sz="3800" dirty="0"/>
          </a:p>
        </p:txBody>
      </p:sp>
      <p:sp>
        <p:nvSpPr>
          <p:cNvPr id="19" name="text-17"/>
          <p:cNvSpPr txBox="1"/>
          <p:nvPr/>
        </p:nvSpPr>
        <p:spPr>
          <a:xfrm>
            <a:off x="288036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verified targets</a:t>
            </a:r>
            <a:endParaRPr lang="en-US" sz="1400" dirty="0"/>
          </a:p>
        </p:txBody>
      </p:sp>
      <p:sp>
        <p:nvSpPr>
          <p:cNvPr id="20" name="text-18"/>
          <p:cNvSpPr txBox="1"/>
          <p:nvPr/>
        </p:nvSpPr>
        <p:spPr>
          <a:xfrm>
            <a:off x="5029200" y="4663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6"/>
                </a:solidFill>
              </a:rPr>
              <a:t>98.10%</a:t>
            </a:r>
            <a:endParaRPr lang="en-US" sz="3800" dirty="0"/>
          </a:p>
        </p:txBody>
      </p:sp>
      <p:sp>
        <p:nvSpPr>
          <p:cNvPr id="21" name="text-19"/>
          <p:cNvSpPr txBox="1"/>
          <p:nvPr/>
        </p:nvSpPr>
        <p:spPr>
          <a:xfrm>
            <a:off x="502920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ATR accuracy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Why SAR: all-weather, 24/7 reconnaissance</a:t>
            </a:r>
            <a:endParaRPr lang="en-US" sz="3400" dirty="0"/>
          </a:p>
        </p:txBody>
      </p:sp>
      <p:sp>
        <p:nvSpPr>
          <p:cNvPr id="3" name="card-20"/>
          <p:cNvSpPr/>
          <p:nvPr/>
        </p:nvSpPr>
        <p:spPr>
          <a:xfrm>
            <a:off x="548640" y="1417320"/>
            <a:ext cx="3931920" cy="2148840"/>
          </a:xfrm>
          <a:prstGeom prst="roundRect">
            <a:avLst>
              <a:gd name="adj" fmla="val 4255"/>
            </a:avLst>
          </a:prstGeom>
          <a:solidFill>
            <a:schemeClr val="tx1"/>
          </a:solidFill>
          <a:ln/>
        </p:spPr>
      </p:sp>
      <p:sp>
        <p:nvSpPr>
          <p:cNvPr id="4" name="text-21"/>
          <p:cNvSpPr txBox="1"/>
          <p:nvPr/>
        </p:nvSpPr>
        <p:spPr>
          <a:xfrm>
            <a:off x="822960" y="1554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6"/>
                </a:solidFill>
              </a:rPr>
              <a:t>70%</a:t>
            </a:r>
            <a:endParaRPr lang="en-US" sz="6000" dirty="0"/>
          </a:p>
        </p:txBody>
      </p:sp>
      <p:sp>
        <p:nvSpPr>
          <p:cNvPr id="5" name="text-22"/>
          <p:cNvSpPr txBox="1"/>
          <p:nvPr/>
        </p:nvSpPr>
        <p:spPr>
          <a:xfrm>
            <a:off x="822960" y="25146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of the time optical satellites are blinded by cloud, fog and night over border corridors (Akhnoor, Chamb, Ladakh) and maritime choke points</a:t>
            </a:r>
            <a:endParaRPr lang="en-US" sz="1400" dirty="0"/>
          </a:p>
        </p:txBody>
      </p:sp>
      <p:sp>
        <p:nvSpPr>
          <p:cNvPr id="6" name="card-23"/>
          <p:cNvSpPr/>
          <p:nvPr/>
        </p:nvSpPr>
        <p:spPr>
          <a:xfrm>
            <a:off x="548640" y="3749040"/>
            <a:ext cx="39319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badge-24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8" name="icon-25" descr="SatelliteDis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4103370"/>
            <a:ext cx="251460" cy="251460"/>
          </a:xfrm>
          <a:prstGeom prst="rect">
            <a:avLst/>
          </a:prstGeom>
        </p:spPr>
      </p:pic>
      <p:sp>
        <p:nvSpPr>
          <p:cNvPr id="9" name="text-26"/>
          <p:cNvSpPr txBox="1"/>
          <p:nvPr/>
        </p:nvSpPr>
        <p:spPr>
          <a:xfrm>
            <a:off x="146304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solution</a:t>
            </a:r>
            <a:endParaRPr lang="en-US" sz="2000" dirty="0"/>
          </a:p>
        </p:txBody>
      </p:sp>
      <p:sp>
        <p:nvSpPr>
          <p:cNvPr id="10" name="text-27"/>
          <p:cNvSpPr txBox="1"/>
          <p:nvPr/>
        </p:nvSpPr>
        <p:spPr>
          <a:xfrm>
            <a:off x="822960" y="46634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X-Band (9.6 GHz) microwave pulses penetrate clouds, smoke and camouflage to image metallic surfaces 24/7/365.</a:t>
            </a:r>
            <a:endParaRPr lang="en-US" sz="1600" dirty="0"/>
          </a:p>
        </p:txBody>
      </p:sp>
      <p:sp>
        <p:nvSpPr>
          <p:cNvPr id="11" name="text-28"/>
          <p:cNvSpPr txBox="1"/>
          <p:nvPr/>
        </p:nvSpPr>
        <p:spPr>
          <a:xfrm>
            <a:off x="4846320" y="1371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Five core innovations</a:t>
            </a:r>
            <a:endParaRPr lang="en-US" sz="2000" dirty="0"/>
          </a:p>
        </p:txBody>
      </p:sp>
      <p:sp>
        <p:nvSpPr>
          <p:cNvPr id="12" name="card-29"/>
          <p:cNvSpPr/>
          <p:nvPr/>
        </p:nvSpPr>
        <p:spPr>
          <a:xfrm>
            <a:off x="4846320" y="1874520"/>
            <a:ext cx="6793992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13" name="badge-30"/>
          <p:cNvSpPr/>
          <p:nvPr/>
        </p:nvSpPr>
        <p:spPr>
          <a:xfrm>
            <a:off x="5029200" y="2002536"/>
            <a:ext cx="512064" cy="512064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14" name="text-31"/>
          <p:cNvSpPr txBox="1"/>
          <p:nvPr/>
        </p:nvSpPr>
        <p:spPr>
          <a:xfrm>
            <a:off x="5029200" y="2002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1</a:t>
            </a:r>
            <a:endParaRPr lang="en-US" sz="1900" dirty="0"/>
          </a:p>
        </p:txBody>
      </p:sp>
      <p:sp>
        <p:nvSpPr>
          <p:cNvPr id="15" name="text-32"/>
          <p:cNvSpPr txBox="1"/>
          <p:nvPr/>
        </p:nvSpPr>
        <p:spPr>
          <a:xfrm>
            <a:off x="5760720" y="19659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Calibrated preprocessing</a:t>
            </a:r>
            <a:endParaRPr lang="en-US" sz="1600" dirty="0"/>
          </a:p>
        </p:txBody>
      </p:sp>
      <p:sp>
        <p:nvSpPr>
          <p:cNvPr id="16" name="text-33"/>
          <p:cNvSpPr txBox="1"/>
          <p:nvPr/>
        </p:nvSpPr>
        <p:spPr>
          <a:xfrm>
            <a:off x="5760720" y="22768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Raw Doppler backscatter to physical Sigma-0 imagery in 5 steps</a:t>
            </a:r>
            <a:endParaRPr lang="en-US" sz="1400" dirty="0"/>
          </a:p>
        </p:txBody>
      </p:sp>
      <p:sp>
        <p:nvSpPr>
          <p:cNvPr id="17" name="card-34"/>
          <p:cNvSpPr/>
          <p:nvPr/>
        </p:nvSpPr>
        <p:spPr>
          <a:xfrm>
            <a:off x="4846320" y="2752344"/>
            <a:ext cx="6793992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18" name="badge-35"/>
          <p:cNvSpPr/>
          <p:nvPr/>
        </p:nvSpPr>
        <p:spPr>
          <a:xfrm>
            <a:off x="5029200" y="2880360"/>
            <a:ext cx="512064" cy="512064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19" name="text-36"/>
          <p:cNvSpPr txBox="1"/>
          <p:nvPr/>
        </p:nvSpPr>
        <p:spPr>
          <a:xfrm>
            <a:off x="5029200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2</a:t>
            </a:r>
            <a:endParaRPr lang="en-US" sz="1900" dirty="0"/>
          </a:p>
        </p:txBody>
      </p:sp>
      <p:sp>
        <p:nvSpPr>
          <p:cNvPr id="20" name="text-37"/>
          <p:cNvSpPr txBox="1"/>
          <p:nvPr/>
        </p:nvSpPr>
        <p:spPr>
          <a:xfrm>
            <a:off x="5760720" y="28437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Zero-heuristic neural ATR</a:t>
            </a:r>
            <a:endParaRPr lang="en-US" sz="1600" dirty="0"/>
          </a:p>
        </p:txBody>
      </p:sp>
      <p:sp>
        <p:nvSpPr>
          <p:cNvPr id="21" name="text-38"/>
          <p:cNvSpPr txBox="1"/>
          <p:nvPr/>
        </p:nvSpPr>
        <p:spPr>
          <a:xfrm>
            <a:off x="5760720" y="31546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ResNet-18 (MSTAR, 10 classes) plus YOLOv8 maritime detector</a:t>
            </a:r>
            <a:endParaRPr lang="en-US" sz="1400" dirty="0"/>
          </a:p>
        </p:txBody>
      </p:sp>
      <p:sp>
        <p:nvSpPr>
          <p:cNvPr id="22" name="card-39"/>
          <p:cNvSpPr/>
          <p:nvPr/>
        </p:nvSpPr>
        <p:spPr>
          <a:xfrm>
            <a:off x="4846320" y="3630168"/>
            <a:ext cx="6793992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23" name="badge-40"/>
          <p:cNvSpPr/>
          <p:nvPr/>
        </p:nvSpPr>
        <p:spPr>
          <a:xfrm>
            <a:off x="5029200" y="3758184"/>
            <a:ext cx="512064" cy="512064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24" name="text-41"/>
          <p:cNvSpPr txBox="1"/>
          <p:nvPr/>
        </p:nvSpPr>
        <p:spPr>
          <a:xfrm>
            <a:off x="5029200" y="3758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3</a:t>
            </a:r>
            <a:endParaRPr lang="en-US" sz="1900" dirty="0"/>
          </a:p>
        </p:txBody>
      </p:sp>
      <p:sp>
        <p:nvSpPr>
          <p:cNvPr id="25" name="text-42"/>
          <p:cNvSpPr txBox="1"/>
          <p:nvPr/>
        </p:nvSpPr>
        <p:spPr>
          <a:xfrm>
            <a:off x="5760720" y="3721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Native SAR-ViT encoder</a:t>
            </a:r>
            <a:endParaRPr lang="en-US" sz="1600" dirty="0"/>
          </a:p>
        </p:txBody>
      </p:sp>
      <p:sp>
        <p:nvSpPr>
          <p:cNvPr id="26" name="text-43"/>
          <p:cNvSpPr txBox="1"/>
          <p:nvPr/>
        </p:nvSpPr>
        <p:spPr>
          <a:xfrm>
            <a:off x="5760720" y="40325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1-channel radar transformer; 512-D embeddings in Qdrant</a:t>
            </a:r>
            <a:endParaRPr lang="en-US" sz="1400" dirty="0"/>
          </a:p>
        </p:txBody>
      </p:sp>
      <p:sp>
        <p:nvSpPr>
          <p:cNvPr id="27" name="card-44"/>
          <p:cNvSpPr/>
          <p:nvPr/>
        </p:nvSpPr>
        <p:spPr>
          <a:xfrm>
            <a:off x="4846320" y="4507992"/>
            <a:ext cx="6793992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28" name="badge-45"/>
          <p:cNvSpPr/>
          <p:nvPr/>
        </p:nvSpPr>
        <p:spPr>
          <a:xfrm>
            <a:off x="5029200" y="4636008"/>
            <a:ext cx="512064" cy="512064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29" name="text-46"/>
          <p:cNvSpPr txBox="1"/>
          <p:nvPr/>
        </p:nvSpPr>
        <p:spPr>
          <a:xfrm>
            <a:off x="502920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4</a:t>
            </a:r>
            <a:endParaRPr lang="en-US" sz="1900" dirty="0"/>
          </a:p>
        </p:txBody>
      </p:sp>
      <p:sp>
        <p:nvSpPr>
          <p:cNvPr id="30" name="text-47"/>
          <p:cNvSpPr txBox="1"/>
          <p:nvPr/>
        </p:nvSpPr>
        <p:spPr>
          <a:xfrm>
            <a:off x="5760720" y="45994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Master Template schema</a:t>
            </a:r>
            <a:endParaRPr lang="en-US" sz="1600" dirty="0"/>
          </a:p>
        </p:txBody>
      </p:sp>
      <p:sp>
        <p:nvSpPr>
          <p:cNvPr id="31" name="text-48"/>
          <p:cNvSpPr txBox="1"/>
          <p:nvPr/>
        </p:nvSpPr>
        <p:spPr>
          <a:xfrm>
            <a:off x="5760720" y="49103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Single source of truth: 70 tiles, 733 verified targets</a:t>
            </a:r>
            <a:endParaRPr lang="en-US" sz="1400" dirty="0"/>
          </a:p>
        </p:txBody>
      </p:sp>
      <p:sp>
        <p:nvSpPr>
          <p:cNvPr id="32" name="card-49"/>
          <p:cNvSpPr/>
          <p:nvPr/>
        </p:nvSpPr>
        <p:spPr>
          <a:xfrm>
            <a:off x="4846320" y="5385816"/>
            <a:ext cx="6793992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33" name="badge-50"/>
          <p:cNvSpPr/>
          <p:nvPr/>
        </p:nvSpPr>
        <p:spPr>
          <a:xfrm>
            <a:off x="5029200" y="5513832"/>
            <a:ext cx="512064" cy="512064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34" name="text-51"/>
          <p:cNvSpPr txBox="1"/>
          <p:nvPr/>
        </p:nvSpPr>
        <p:spPr>
          <a:xfrm>
            <a:off x="5029200" y="5513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5</a:t>
            </a:r>
            <a:endParaRPr lang="en-US" sz="1900" dirty="0"/>
          </a:p>
        </p:txBody>
      </p:sp>
      <p:sp>
        <p:nvSpPr>
          <p:cNvPr id="35" name="text-52"/>
          <p:cNvSpPr txBox="1"/>
          <p:nvPr/>
        </p:nvSpPr>
        <p:spPr>
          <a:xfrm>
            <a:off x="5760720" y="54772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Gemini autonomous agent</a:t>
            </a:r>
            <a:endParaRPr lang="en-US" sz="1600" dirty="0"/>
          </a:p>
        </p:txBody>
      </p:sp>
      <p:sp>
        <p:nvSpPr>
          <p:cNvPr id="36" name="text-53"/>
          <p:cNvSpPr txBox="1"/>
          <p:nvPr/>
        </p:nvSpPr>
        <p:spPr>
          <a:xfrm>
            <a:off x="5760720" y="57881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Multi-step ReAct reasoning for open-ended commander queries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End-to-end system architecture</a:t>
            </a:r>
            <a:endParaRPr lang="en-US" sz="3400" dirty="0"/>
          </a:p>
        </p:txBody>
      </p:sp>
      <p:sp>
        <p:nvSpPr>
          <p:cNvPr id="3" name="card-54"/>
          <p:cNvSpPr/>
          <p:nvPr/>
        </p:nvSpPr>
        <p:spPr>
          <a:xfrm>
            <a:off x="548640" y="1417320"/>
            <a:ext cx="1335024" cy="2926080"/>
          </a:xfrm>
          <a:prstGeom prst="roundRect">
            <a:avLst>
              <a:gd name="adj" fmla="val 6849"/>
            </a:avLst>
          </a:prstGeom>
          <a:solidFill>
            <a:schemeClr val="bg2"/>
          </a:solidFill>
          <a:ln/>
        </p:spPr>
      </p:sp>
      <p:sp>
        <p:nvSpPr>
          <p:cNvPr id="4" name="badge-55"/>
          <p:cNvSpPr/>
          <p:nvPr/>
        </p:nvSpPr>
        <p:spPr>
          <a:xfrm>
            <a:off x="941832" y="1600200"/>
            <a:ext cx="548640" cy="548640"/>
          </a:xfrm>
          <a:prstGeom prst="ellipse">
            <a:avLst/>
          </a:prstGeom>
          <a:solidFill>
            <a:srgbClr val="1F5F7A"/>
          </a:solidFill>
          <a:ln/>
        </p:spPr>
      </p:sp>
      <p:pic>
        <p:nvPicPr>
          <p:cNvPr id="5" name="icon-56" descr="Satellit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737360"/>
            <a:ext cx="274320" cy="274320"/>
          </a:xfrm>
          <a:prstGeom prst="rect">
            <a:avLst/>
          </a:prstGeom>
        </p:spPr>
      </p:pic>
      <p:sp>
        <p:nvSpPr>
          <p:cNvPr id="6" name="text-57"/>
          <p:cNvSpPr txBox="1"/>
          <p:nvPr/>
        </p:nvSpPr>
        <p:spPr>
          <a:xfrm>
            <a:off x="640080" y="228600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STAGE 1</a:t>
            </a:r>
            <a:endParaRPr lang="en-US" sz="1100" dirty="0"/>
          </a:p>
        </p:txBody>
      </p:sp>
      <p:sp>
        <p:nvSpPr>
          <p:cNvPr id="7" name="text-58"/>
          <p:cNvSpPr txBox="1"/>
          <p:nvPr/>
        </p:nvSpPr>
        <p:spPr>
          <a:xfrm>
            <a:off x="640080" y="256032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Raw Telemetry Ingestion</a:t>
            </a:r>
            <a:endParaRPr lang="en-US" sz="1500" dirty="0"/>
          </a:p>
        </p:txBody>
      </p:sp>
      <p:sp>
        <p:nvSpPr>
          <p:cNvPr id="8" name="text-59"/>
          <p:cNvSpPr txBox="1"/>
          <p:nvPr/>
        </p:nvSpPr>
        <p:spPr>
          <a:xfrm>
            <a:off x="640080" y="333756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16-bit X-Band GeoTIFF at 0.3 m</a:t>
            </a:r>
            <a:endParaRPr lang="en-US" sz="1300" dirty="0"/>
          </a:p>
        </p:txBody>
      </p:sp>
      <p:sp>
        <p:nvSpPr>
          <p:cNvPr id="9" name="arrow-60"/>
          <p:cNvSpPr/>
          <p:nvPr/>
        </p:nvSpPr>
        <p:spPr>
          <a:xfrm>
            <a:off x="1947672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0" name="card-61"/>
          <p:cNvSpPr/>
          <p:nvPr/>
        </p:nvSpPr>
        <p:spPr>
          <a:xfrm>
            <a:off x="2176272" y="1417320"/>
            <a:ext cx="1335024" cy="2926080"/>
          </a:xfrm>
          <a:prstGeom prst="roundRect">
            <a:avLst>
              <a:gd name="adj" fmla="val 6849"/>
            </a:avLst>
          </a:prstGeom>
          <a:solidFill>
            <a:schemeClr val="bg2"/>
          </a:solidFill>
          <a:ln/>
        </p:spPr>
      </p:sp>
      <p:sp>
        <p:nvSpPr>
          <p:cNvPr id="11" name="badge-62"/>
          <p:cNvSpPr/>
          <p:nvPr/>
        </p:nvSpPr>
        <p:spPr>
          <a:xfrm>
            <a:off x="2569464" y="1600200"/>
            <a:ext cx="548640" cy="548640"/>
          </a:xfrm>
          <a:prstGeom prst="ellipse">
            <a:avLst/>
          </a:prstGeom>
          <a:solidFill>
            <a:srgbClr val="1F5F7A"/>
          </a:solidFill>
          <a:ln/>
        </p:spPr>
      </p:sp>
      <p:pic>
        <p:nvPicPr>
          <p:cNvPr id="12" name="icon-63" descr="Sliders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624" y="1737360"/>
            <a:ext cx="274320" cy="274320"/>
          </a:xfrm>
          <a:prstGeom prst="rect">
            <a:avLst/>
          </a:prstGeom>
        </p:spPr>
      </p:pic>
      <p:sp>
        <p:nvSpPr>
          <p:cNvPr id="13" name="text-64"/>
          <p:cNvSpPr txBox="1"/>
          <p:nvPr/>
        </p:nvSpPr>
        <p:spPr>
          <a:xfrm>
            <a:off x="2267712" y="228600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STAGE 2</a:t>
            </a:r>
            <a:endParaRPr lang="en-US" sz="1100" dirty="0"/>
          </a:p>
        </p:txBody>
      </p:sp>
      <p:sp>
        <p:nvSpPr>
          <p:cNvPr id="14" name="text-65"/>
          <p:cNvSpPr txBox="1"/>
          <p:nvPr/>
        </p:nvSpPr>
        <p:spPr>
          <a:xfrm>
            <a:off x="2267712" y="256032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Radar Preprocessing</a:t>
            </a:r>
            <a:endParaRPr lang="en-US" sz="1500" dirty="0"/>
          </a:p>
        </p:txBody>
      </p:sp>
      <p:sp>
        <p:nvSpPr>
          <p:cNvPr id="15" name="text-66"/>
          <p:cNvSpPr txBox="1"/>
          <p:nvPr/>
        </p:nvSpPr>
        <p:spPr>
          <a:xfrm>
            <a:off x="2267712" y="333756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5-step calibration and despeckling</a:t>
            </a:r>
            <a:endParaRPr lang="en-US" sz="1300" dirty="0"/>
          </a:p>
        </p:txBody>
      </p:sp>
      <p:sp>
        <p:nvSpPr>
          <p:cNvPr id="16" name="arrow-67"/>
          <p:cNvSpPr/>
          <p:nvPr/>
        </p:nvSpPr>
        <p:spPr>
          <a:xfrm>
            <a:off x="3575304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7" name="card-68"/>
          <p:cNvSpPr/>
          <p:nvPr/>
        </p:nvSpPr>
        <p:spPr>
          <a:xfrm>
            <a:off x="3803904" y="1417320"/>
            <a:ext cx="1335024" cy="2926080"/>
          </a:xfrm>
          <a:prstGeom prst="roundRect">
            <a:avLst>
              <a:gd name="adj" fmla="val 6849"/>
            </a:avLst>
          </a:prstGeom>
          <a:solidFill>
            <a:schemeClr val="bg2"/>
          </a:solidFill>
          <a:ln/>
        </p:spPr>
      </p:sp>
      <p:sp>
        <p:nvSpPr>
          <p:cNvPr id="18" name="badge-69"/>
          <p:cNvSpPr/>
          <p:nvPr/>
        </p:nvSpPr>
        <p:spPr>
          <a:xfrm>
            <a:off x="4197096" y="1600200"/>
            <a:ext cx="548640" cy="548640"/>
          </a:xfrm>
          <a:prstGeom prst="ellipse">
            <a:avLst/>
          </a:prstGeom>
          <a:solidFill>
            <a:srgbClr val="1F5F7A"/>
          </a:solidFill>
          <a:ln/>
        </p:spPr>
      </p:sp>
      <p:pic>
        <p:nvPicPr>
          <p:cNvPr id="19" name="icon-70" descr="Random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737360"/>
            <a:ext cx="274320" cy="274320"/>
          </a:xfrm>
          <a:prstGeom prst="rect">
            <a:avLst/>
          </a:prstGeom>
        </p:spPr>
      </p:pic>
      <p:sp>
        <p:nvSpPr>
          <p:cNvPr id="20" name="text-71"/>
          <p:cNvSpPr txBox="1"/>
          <p:nvPr/>
        </p:nvSpPr>
        <p:spPr>
          <a:xfrm>
            <a:off x="3895344" y="228600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STAGE 3</a:t>
            </a:r>
            <a:endParaRPr lang="en-US" sz="1100" dirty="0"/>
          </a:p>
        </p:txBody>
      </p:sp>
      <p:sp>
        <p:nvSpPr>
          <p:cNvPr id="21" name="text-72"/>
          <p:cNvSpPr txBox="1"/>
          <p:nvPr/>
        </p:nvSpPr>
        <p:spPr>
          <a:xfrm>
            <a:off x="3895344" y="256032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Domain Analysis</a:t>
            </a:r>
            <a:endParaRPr lang="en-US" sz="1500" dirty="0"/>
          </a:p>
        </p:txBody>
      </p:sp>
      <p:sp>
        <p:nvSpPr>
          <p:cNvPr id="22" name="text-73"/>
          <p:cNvSpPr txBox="1"/>
          <p:nvPr/>
        </p:nvSpPr>
        <p:spPr>
          <a:xfrm>
            <a:off x="3895344" y="333756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Water vs ground routing</a:t>
            </a:r>
            <a:endParaRPr lang="en-US" sz="1300" dirty="0"/>
          </a:p>
        </p:txBody>
      </p:sp>
      <p:sp>
        <p:nvSpPr>
          <p:cNvPr id="23" name="arrow-74"/>
          <p:cNvSpPr/>
          <p:nvPr/>
        </p:nvSpPr>
        <p:spPr>
          <a:xfrm>
            <a:off x="5202936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4" name="card-75"/>
          <p:cNvSpPr/>
          <p:nvPr/>
        </p:nvSpPr>
        <p:spPr>
          <a:xfrm>
            <a:off x="5431536" y="1417320"/>
            <a:ext cx="1335024" cy="2926080"/>
          </a:xfrm>
          <a:prstGeom prst="roundRect">
            <a:avLst>
              <a:gd name="adj" fmla="val 6849"/>
            </a:avLst>
          </a:prstGeom>
          <a:solidFill>
            <a:schemeClr val="bg2"/>
          </a:solidFill>
          <a:ln/>
        </p:spPr>
      </p:sp>
      <p:sp>
        <p:nvSpPr>
          <p:cNvPr id="25" name="badge-76"/>
          <p:cNvSpPr/>
          <p:nvPr/>
        </p:nvSpPr>
        <p:spPr>
          <a:xfrm>
            <a:off x="5824728" y="1600200"/>
            <a:ext cx="548640" cy="548640"/>
          </a:xfrm>
          <a:prstGeom prst="ellipse">
            <a:avLst/>
          </a:prstGeom>
          <a:solidFill>
            <a:srgbClr val="1F5F7A"/>
          </a:solidFill>
          <a:ln/>
        </p:spPr>
      </p:sp>
      <p:pic>
        <p:nvPicPr>
          <p:cNvPr id="26" name="icon-77" descr="Crosshair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1737360"/>
            <a:ext cx="274320" cy="274320"/>
          </a:xfrm>
          <a:prstGeom prst="rect">
            <a:avLst/>
          </a:prstGeom>
        </p:spPr>
      </p:pic>
      <p:sp>
        <p:nvSpPr>
          <p:cNvPr id="27" name="text-78"/>
          <p:cNvSpPr txBox="1"/>
          <p:nvPr/>
        </p:nvSpPr>
        <p:spPr>
          <a:xfrm>
            <a:off x="5522976" y="228600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STAGE 4</a:t>
            </a:r>
            <a:endParaRPr lang="en-US" sz="1100" dirty="0"/>
          </a:p>
        </p:txBody>
      </p:sp>
      <p:sp>
        <p:nvSpPr>
          <p:cNvPr id="28" name="text-79"/>
          <p:cNvSpPr txBox="1"/>
          <p:nvPr/>
        </p:nvSpPr>
        <p:spPr>
          <a:xfrm>
            <a:off x="5522976" y="256032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Neural ATR</a:t>
            </a:r>
            <a:endParaRPr lang="en-US" sz="1500" dirty="0"/>
          </a:p>
        </p:txBody>
      </p:sp>
      <p:sp>
        <p:nvSpPr>
          <p:cNvPr id="29" name="text-80"/>
          <p:cNvSpPr txBox="1"/>
          <p:nvPr/>
        </p:nvSpPr>
        <p:spPr>
          <a:xfrm>
            <a:off x="5522976" y="333756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ResNet-18 and YOLOv8, 0% if-else</a:t>
            </a:r>
            <a:endParaRPr lang="en-US" sz="1300" dirty="0"/>
          </a:p>
        </p:txBody>
      </p:sp>
      <p:sp>
        <p:nvSpPr>
          <p:cNvPr id="30" name="arrow-81"/>
          <p:cNvSpPr/>
          <p:nvPr/>
        </p:nvSpPr>
        <p:spPr>
          <a:xfrm>
            <a:off x="6830568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31" name="card-82"/>
          <p:cNvSpPr/>
          <p:nvPr/>
        </p:nvSpPr>
        <p:spPr>
          <a:xfrm>
            <a:off x="7059168" y="1417320"/>
            <a:ext cx="1335024" cy="2926080"/>
          </a:xfrm>
          <a:prstGeom prst="roundRect">
            <a:avLst>
              <a:gd name="adj" fmla="val 6849"/>
            </a:avLst>
          </a:prstGeom>
          <a:solidFill>
            <a:schemeClr val="bg2"/>
          </a:solidFill>
          <a:ln/>
        </p:spPr>
      </p:sp>
      <p:sp>
        <p:nvSpPr>
          <p:cNvPr id="32" name="badge-83"/>
          <p:cNvSpPr/>
          <p:nvPr/>
        </p:nvSpPr>
        <p:spPr>
          <a:xfrm>
            <a:off x="7452360" y="1600200"/>
            <a:ext cx="548640" cy="548640"/>
          </a:xfrm>
          <a:prstGeom prst="ellipse">
            <a:avLst/>
          </a:prstGeom>
          <a:solidFill>
            <a:srgbClr val="1F5F7A"/>
          </a:solidFill>
          <a:ln/>
        </p:spPr>
      </p:sp>
      <p:pic>
        <p:nvPicPr>
          <p:cNvPr id="33" name="icon-84" descr="ProjectDiagram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1737360"/>
            <a:ext cx="274320" cy="274320"/>
          </a:xfrm>
          <a:prstGeom prst="rect">
            <a:avLst/>
          </a:prstGeom>
        </p:spPr>
      </p:pic>
      <p:sp>
        <p:nvSpPr>
          <p:cNvPr id="34" name="text-85"/>
          <p:cNvSpPr txBox="1"/>
          <p:nvPr/>
        </p:nvSpPr>
        <p:spPr>
          <a:xfrm>
            <a:off x="7150608" y="228600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STAGE 5</a:t>
            </a:r>
            <a:endParaRPr lang="en-US" sz="1100" dirty="0"/>
          </a:p>
        </p:txBody>
      </p:sp>
      <p:sp>
        <p:nvSpPr>
          <p:cNvPr id="35" name="text-86"/>
          <p:cNvSpPr txBox="1"/>
          <p:nvPr/>
        </p:nvSpPr>
        <p:spPr>
          <a:xfrm>
            <a:off x="7150608" y="256032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SAR-ViT Encoder</a:t>
            </a:r>
            <a:endParaRPr lang="en-US" sz="1500" dirty="0"/>
          </a:p>
        </p:txBody>
      </p:sp>
      <p:sp>
        <p:nvSpPr>
          <p:cNvPr id="36" name="text-87"/>
          <p:cNvSpPr txBox="1"/>
          <p:nvPr/>
        </p:nvSpPr>
        <p:spPr>
          <a:xfrm>
            <a:off x="7150608" y="333756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512-D native radar embeddings</a:t>
            </a:r>
            <a:endParaRPr lang="en-US" sz="1300" dirty="0"/>
          </a:p>
        </p:txBody>
      </p:sp>
      <p:sp>
        <p:nvSpPr>
          <p:cNvPr id="37" name="arrow-88"/>
          <p:cNvSpPr/>
          <p:nvPr/>
        </p:nvSpPr>
        <p:spPr>
          <a:xfrm>
            <a:off x="8458200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38" name="card-89"/>
          <p:cNvSpPr/>
          <p:nvPr/>
        </p:nvSpPr>
        <p:spPr>
          <a:xfrm>
            <a:off x="8686800" y="1417320"/>
            <a:ext cx="1335024" cy="2926080"/>
          </a:xfrm>
          <a:prstGeom prst="roundRect">
            <a:avLst>
              <a:gd name="adj" fmla="val 6849"/>
            </a:avLst>
          </a:prstGeom>
          <a:solidFill>
            <a:schemeClr val="bg2"/>
          </a:solidFill>
          <a:ln/>
        </p:spPr>
      </p:sp>
      <p:sp>
        <p:nvSpPr>
          <p:cNvPr id="39" name="badge-90"/>
          <p:cNvSpPr/>
          <p:nvPr/>
        </p:nvSpPr>
        <p:spPr>
          <a:xfrm>
            <a:off x="9079992" y="1600200"/>
            <a:ext cx="548640" cy="548640"/>
          </a:xfrm>
          <a:prstGeom prst="ellipse">
            <a:avLst/>
          </a:prstGeom>
          <a:solidFill>
            <a:srgbClr val="1F5F7A"/>
          </a:solidFill>
          <a:ln/>
        </p:spPr>
      </p:sp>
      <p:pic>
        <p:nvPicPr>
          <p:cNvPr id="40" name="icon-91" descr="LayerGroup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152" y="1737360"/>
            <a:ext cx="274320" cy="274320"/>
          </a:xfrm>
          <a:prstGeom prst="rect">
            <a:avLst/>
          </a:prstGeom>
        </p:spPr>
      </p:pic>
      <p:sp>
        <p:nvSpPr>
          <p:cNvPr id="41" name="text-92"/>
          <p:cNvSpPr txBox="1"/>
          <p:nvPr/>
        </p:nvSpPr>
        <p:spPr>
          <a:xfrm>
            <a:off x="8778240" y="228600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STAGE 6</a:t>
            </a:r>
            <a:endParaRPr lang="en-US" sz="1100" dirty="0"/>
          </a:p>
        </p:txBody>
      </p:sp>
      <p:sp>
        <p:nvSpPr>
          <p:cNvPr id="42" name="text-93"/>
          <p:cNvSpPr txBox="1"/>
          <p:nvPr/>
        </p:nvSpPr>
        <p:spPr>
          <a:xfrm>
            <a:off x="8778240" y="256032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Master Template</a:t>
            </a:r>
            <a:endParaRPr lang="en-US" sz="1500" dirty="0"/>
          </a:p>
        </p:txBody>
      </p:sp>
      <p:sp>
        <p:nvSpPr>
          <p:cNvPr id="43" name="text-94"/>
          <p:cNvSpPr txBox="1"/>
          <p:nvPr/>
        </p:nvSpPr>
        <p:spPr>
          <a:xfrm>
            <a:off x="8778240" y="333756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Telemetry, ATR and vectors unified</a:t>
            </a:r>
            <a:endParaRPr lang="en-US" sz="1300" dirty="0"/>
          </a:p>
        </p:txBody>
      </p:sp>
      <p:sp>
        <p:nvSpPr>
          <p:cNvPr id="44" name="arrow-95"/>
          <p:cNvSpPr/>
          <p:nvPr/>
        </p:nvSpPr>
        <p:spPr>
          <a:xfrm>
            <a:off x="10085832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45" name="card-96"/>
          <p:cNvSpPr/>
          <p:nvPr/>
        </p:nvSpPr>
        <p:spPr>
          <a:xfrm>
            <a:off x="10314432" y="1417320"/>
            <a:ext cx="1335024" cy="2926080"/>
          </a:xfrm>
          <a:prstGeom prst="roundRect">
            <a:avLst>
              <a:gd name="adj" fmla="val 6849"/>
            </a:avLst>
          </a:prstGeom>
          <a:solidFill>
            <a:schemeClr val="tx2"/>
          </a:solidFill>
          <a:ln/>
        </p:spPr>
      </p:sp>
      <p:sp>
        <p:nvSpPr>
          <p:cNvPr id="46" name="badge-97"/>
          <p:cNvSpPr/>
          <p:nvPr/>
        </p:nvSpPr>
        <p:spPr>
          <a:xfrm>
            <a:off x="10707624" y="1600200"/>
            <a:ext cx="548640" cy="54864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47" name="icon-98" descr="Robo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4784" y="1737360"/>
            <a:ext cx="274320" cy="274320"/>
          </a:xfrm>
          <a:prstGeom prst="rect">
            <a:avLst/>
          </a:prstGeom>
        </p:spPr>
      </p:pic>
      <p:sp>
        <p:nvSpPr>
          <p:cNvPr id="48" name="text-99"/>
          <p:cNvSpPr txBox="1"/>
          <p:nvPr/>
        </p:nvSpPr>
        <p:spPr>
          <a:xfrm>
            <a:off x="10405872" y="228600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STAGE 7</a:t>
            </a:r>
            <a:endParaRPr lang="en-US" sz="1100" dirty="0"/>
          </a:p>
        </p:txBody>
      </p:sp>
      <p:sp>
        <p:nvSpPr>
          <p:cNvPr id="49" name="text-100"/>
          <p:cNvSpPr txBox="1"/>
          <p:nvPr/>
        </p:nvSpPr>
        <p:spPr>
          <a:xfrm>
            <a:off x="10405872" y="256032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Gemini Query Engine</a:t>
            </a:r>
            <a:endParaRPr lang="en-US" sz="1500" dirty="0"/>
          </a:p>
        </p:txBody>
      </p:sp>
      <p:sp>
        <p:nvSpPr>
          <p:cNvPr id="50" name="text-101"/>
          <p:cNvSpPr txBox="1"/>
          <p:nvPr/>
        </p:nvSpPr>
        <p:spPr>
          <a:xfrm>
            <a:off x="10405872" y="333756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ReAct agent with 5 defense tools</a:t>
            </a:r>
            <a:endParaRPr lang="en-US" sz="1300" dirty="0"/>
          </a:p>
        </p:txBody>
      </p:sp>
      <p:sp>
        <p:nvSpPr>
          <p:cNvPr id="51" name="text-102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Persistent outputs</a:t>
            </a:r>
            <a:endParaRPr lang="en-US" sz="1600" dirty="0"/>
          </a:p>
        </p:txBody>
      </p:sp>
      <p:sp>
        <p:nvSpPr>
          <p:cNvPr id="52" name="card-103"/>
          <p:cNvSpPr/>
          <p:nvPr/>
        </p:nvSpPr>
        <p:spPr>
          <a:xfrm>
            <a:off x="548640" y="512064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badge-104"/>
          <p:cNvSpPr/>
          <p:nvPr/>
        </p:nvSpPr>
        <p:spPr>
          <a:xfrm>
            <a:off x="731520" y="541782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54" name="icon-105" descr="Databas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" y="5532120"/>
            <a:ext cx="228600" cy="228600"/>
          </a:xfrm>
          <a:prstGeom prst="rect">
            <a:avLst/>
          </a:prstGeom>
        </p:spPr>
      </p:pic>
      <p:sp>
        <p:nvSpPr>
          <p:cNvPr id="55" name="text-106"/>
          <p:cNvSpPr txBox="1"/>
          <p:nvPr/>
        </p:nvSpPr>
        <p:spPr>
          <a:xfrm>
            <a:off x="1325880" y="51206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Qdrant: sar_semantic_vectors</a:t>
            </a:r>
            <a:endParaRPr lang="en-US" sz="1500" dirty="0"/>
          </a:p>
        </p:txBody>
      </p:sp>
      <p:sp>
        <p:nvSpPr>
          <p:cNvPr id="56" name="card-107"/>
          <p:cNvSpPr/>
          <p:nvPr/>
        </p:nvSpPr>
        <p:spPr>
          <a:xfrm>
            <a:off x="4311396" y="512064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7" name="badge-108"/>
          <p:cNvSpPr/>
          <p:nvPr/>
        </p:nvSpPr>
        <p:spPr>
          <a:xfrm>
            <a:off x="4494276" y="541782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58" name="icon-109" descr="FileCod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8576" y="5532120"/>
            <a:ext cx="228600" cy="228600"/>
          </a:xfrm>
          <a:prstGeom prst="rect">
            <a:avLst/>
          </a:prstGeom>
        </p:spPr>
      </p:pic>
      <p:sp>
        <p:nvSpPr>
          <p:cNvPr id="59" name="text-110"/>
          <p:cNvSpPr txBox="1"/>
          <p:nvPr/>
        </p:nvSpPr>
        <p:spPr>
          <a:xfrm>
            <a:off x="5088636" y="51206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SQLite DB + sar_master_catalog.json</a:t>
            </a:r>
            <a:endParaRPr lang="en-US" sz="1500" dirty="0"/>
          </a:p>
        </p:txBody>
      </p:sp>
      <p:sp>
        <p:nvSpPr>
          <p:cNvPr id="60" name="card-111"/>
          <p:cNvSpPr/>
          <p:nvPr/>
        </p:nvSpPr>
        <p:spPr>
          <a:xfrm>
            <a:off x="8074152" y="512064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1" name="badge-112"/>
          <p:cNvSpPr/>
          <p:nvPr/>
        </p:nvSpPr>
        <p:spPr>
          <a:xfrm>
            <a:off x="8257032" y="541782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62" name="icon-113" descr="Image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1332" y="5532120"/>
            <a:ext cx="228600" cy="228600"/>
          </a:xfrm>
          <a:prstGeom prst="rect">
            <a:avLst/>
          </a:prstGeom>
        </p:spPr>
      </p:pic>
      <p:sp>
        <p:nvSpPr>
          <p:cNvPr id="63" name="text-114"/>
          <p:cNvSpPr txBox="1"/>
          <p:nvPr/>
        </p:nvSpPr>
        <p:spPr>
          <a:xfrm>
            <a:off x="8851392" y="51206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Detection overlays (.png) in sar-detections/</a:t>
            </a:r>
            <a:endParaRPr lang="en-US" sz="15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1: raw radar telemetry intake</a:t>
            </a:r>
            <a:endParaRPr lang="en-US" sz="3400" dirty="0"/>
          </a:p>
        </p:txBody>
      </p:sp>
      <p:sp>
        <p:nvSpPr>
          <p:cNvPr id="3" name="card-115"/>
          <p:cNvSpPr/>
          <p:nvPr/>
        </p:nvSpPr>
        <p:spPr>
          <a:xfrm>
            <a:off x="548640" y="1417320"/>
            <a:ext cx="32004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badge-116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5" name="icon-117" descr="BroadcastTow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6" name="text-118"/>
          <p:cNvSpPr txBox="1"/>
          <p:nvPr/>
        </p:nvSpPr>
        <p:spPr>
          <a:xfrm>
            <a:off x="822960" y="2377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9.6 GHz</a:t>
            </a:r>
            <a:endParaRPr lang="en-US" sz="3000" dirty="0"/>
          </a:p>
        </p:txBody>
      </p:sp>
      <p:sp>
        <p:nvSpPr>
          <p:cNvPr id="7" name="text-119"/>
          <p:cNvSpPr txBox="1"/>
          <p:nvPr/>
        </p:nvSpPr>
        <p:spPr>
          <a:xfrm>
            <a:off x="82296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X-Band spotlight SAR</a:t>
            </a:r>
            <a:endParaRPr lang="en-US" sz="1400" dirty="0"/>
          </a:p>
        </p:txBody>
      </p:sp>
      <p:sp>
        <p:nvSpPr>
          <p:cNvPr id="8" name="card-120"/>
          <p:cNvSpPr/>
          <p:nvPr/>
        </p:nvSpPr>
        <p:spPr>
          <a:xfrm>
            <a:off x="3931920" y="1417320"/>
            <a:ext cx="32004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badge-121"/>
          <p:cNvSpPr/>
          <p:nvPr/>
        </p:nvSpPr>
        <p:spPr>
          <a:xfrm>
            <a:off x="4206240" y="1691640"/>
            <a:ext cx="548640" cy="54864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10" name="icon-122" descr="RulerCombine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828800"/>
            <a:ext cx="274320" cy="274320"/>
          </a:xfrm>
          <a:prstGeom prst="rect">
            <a:avLst/>
          </a:prstGeom>
        </p:spPr>
      </p:pic>
      <p:sp>
        <p:nvSpPr>
          <p:cNvPr id="11" name="text-123"/>
          <p:cNvSpPr txBox="1"/>
          <p:nvPr/>
        </p:nvSpPr>
        <p:spPr>
          <a:xfrm>
            <a:off x="4206240" y="2377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0.30 m</a:t>
            </a:r>
            <a:endParaRPr lang="en-US" sz="3000" dirty="0"/>
          </a:p>
        </p:txBody>
      </p:sp>
      <p:sp>
        <p:nvSpPr>
          <p:cNvPr id="12" name="text-124"/>
          <p:cNvSpPr txBox="1"/>
          <p:nvPr/>
        </p:nvSpPr>
        <p:spPr>
          <a:xfrm>
            <a:off x="420624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 pixel, defense spotlight mode</a:t>
            </a:r>
            <a:endParaRPr lang="en-US" sz="1400" dirty="0"/>
          </a:p>
        </p:txBody>
      </p:sp>
      <p:sp>
        <p:nvSpPr>
          <p:cNvPr id="13" name="card-125"/>
          <p:cNvSpPr/>
          <p:nvPr/>
        </p:nvSpPr>
        <p:spPr>
          <a:xfrm>
            <a:off x="548640" y="3886200"/>
            <a:ext cx="32004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badge-126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15" name="icon-127" descr="Exchange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97680"/>
            <a:ext cx="274320" cy="274320"/>
          </a:xfrm>
          <a:prstGeom prst="rect">
            <a:avLst/>
          </a:prstGeom>
        </p:spPr>
      </p:pic>
      <p:sp>
        <p:nvSpPr>
          <p:cNvPr id="16" name="text-128"/>
          <p:cNvSpPr txBox="1"/>
          <p:nvPr/>
        </p:nvSpPr>
        <p:spPr>
          <a:xfrm>
            <a:off x="822960" y="4846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HH / VV</a:t>
            </a:r>
            <a:endParaRPr lang="en-US" sz="3000" dirty="0"/>
          </a:p>
        </p:txBody>
      </p:sp>
      <p:sp>
        <p:nvSpPr>
          <p:cNvPr id="17" name="text-129"/>
          <p:cNvSpPr txBox="1"/>
          <p:nvPr/>
        </p:nvSpPr>
        <p:spPr>
          <a:xfrm>
            <a:off x="822960" y="5440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polarizations for maximum metallic corner reflection</a:t>
            </a:r>
            <a:endParaRPr lang="en-US" sz="1400" dirty="0"/>
          </a:p>
        </p:txBody>
      </p:sp>
      <p:sp>
        <p:nvSpPr>
          <p:cNvPr id="18" name="card-130"/>
          <p:cNvSpPr/>
          <p:nvPr/>
        </p:nvSpPr>
        <p:spPr>
          <a:xfrm>
            <a:off x="3931920" y="3886200"/>
            <a:ext cx="32004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9" name="badge-131"/>
          <p:cNvSpPr/>
          <p:nvPr/>
        </p:nvSpPr>
        <p:spPr>
          <a:xfrm>
            <a:off x="4206240" y="4160520"/>
            <a:ext cx="548640" cy="54864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20" name="icon-132" descr="GlobeAsia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297680"/>
            <a:ext cx="274320" cy="274320"/>
          </a:xfrm>
          <a:prstGeom prst="rect">
            <a:avLst/>
          </a:prstGeom>
        </p:spPr>
      </p:pic>
      <p:sp>
        <p:nvSpPr>
          <p:cNvPr id="21" name="text-133"/>
          <p:cNvSpPr txBox="1"/>
          <p:nvPr/>
        </p:nvSpPr>
        <p:spPr>
          <a:xfrm>
            <a:off x="4206240" y="4846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EPSG:4326</a:t>
            </a:r>
            <a:endParaRPr lang="en-US" sz="3000" dirty="0"/>
          </a:p>
        </p:txBody>
      </p:sp>
      <p:sp>
        <p:nvSpPr>
          <p:cNvPr id="22" name="text-134"/>
          <p:cNvSpPr txBox="1"/>
          <p:nvPr/>
        </p:nvSpPr>
        <p:spPr>
          <a:xfrm>
            <a:off x="4206240" y="5440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WGS84 with high-precision affine transform</a:t>
            </a:r>
            <a:endParaRPr lang="en-US" sz="1400" dirty="0"/>
          </a:p>
        </p:txBody>
      </p:sp>
      <p:sp>
        <p:nvSpPr>
          <p:cNvPr id="23" name="card-135"/>
          <p:cNvSpPr/>
          <p:nvPr/>
        </p:nvSpPr>
        <p:spPr>
          <a:xfrm>
            <a:off x="7315200" y="1417320"/>
            <a:ext cx="4325112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24" name="text-136"/>
          <p:cNvSpPr txBox="1"/>
          <p:nvPr/>
        </p:nvSpPr>
        <p:spPr>
          <a:xfrm>
            <a:off x="758952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Input data format</a:t>
            </a:r>
            <a:endParaRPr lang="en-US" sz="1800" dirty="0"/>
          </a:p>
        </p:txBody>
      </p:sp>
      <p:sp>
        <p:nvSpPr>
          <p:cNvPr id="25" name="text-137"/>
          <p:cNvSpPr txBox="1"/>
          <p:nvPr/>
        </p:nvSpPr>
        <p:spPr>
          <a:xfrm>
            <a:off x="7589520" y="2148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SLC / GRD GeoTIFFs (.tif)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16-bit unsigned Digital Numbers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DN range: 0 to 65,535</a:t>
            </a:r>
            <a:endParaRPr lang="en-US" sz="1400" dirty="0"/>
          </a:p>
        </p:txBody>
      </p:sp>
      <p:sp>
        <p:nvSpPr>
          <p:cNvPr id="26" name="card-138"/>
          <p:cNvSpPr/>
          <p:nvPr/>
        </p:nvSpPr>
        <p:spPr>
          <a:xfrm>
            <a:off x="7315200" y="3886200"/>
            <a:ext cx="4325112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27" name="text-139"/>
          <p:cNvSpPr txBox="1"/>
          <p:nvPr/>
        </p:nvSpPr>
        <p:spPr>
          <a:xfrm>
            <a:off x="7589520" y="4069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Geographic coverage</a:t>
            </a:r>
            <a:endParaRPr lang="en-US" sz="1800" dirty="0"/>
          </a:p>
        </p:txBody>
      </p:sp>
      <p:sp>
        <p:nvSpPr>
          <p:cNvPr id="28" name="text-140"/>
          <p:cNvSpPr txBox="1"/>
          <p:nvPr/>
        </p:nvSpPr>
        <p:spPr>
          <a:xfrm>
            <a:off x="7589520" y="46177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Northern border corridors: Akhnoor, Chamb, JBN sectors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Western Fleet naval chokepoints: Arabian Sea, Malacca Strait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2: calibrated 5-step radar preprocessing</a:t>
            </a:r>
            <a:endParaRPr lang="en-US" sz="3400" dirty="0"/>
          </a:p>
        </p:txBody>
      </p:sp>
      <p:sp>
        <p:nvSpPr>
          <p:cNvPr id="3" name="card-141"/>
          <p:cNvSpPr/>
          <p:nvPr/>
        </p:nvSpPr>
        <p:spPr>
          <a:xfrm>
            <a:off x="548640" y="141732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4" name="badge-142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5" name="text-143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-144"/>
          <p:cNvSpPr txBox="1"/>
          <p:nvPr/>
        </p:nvSpPr>
        <p:spPr>
          <a:xfrm>
            <a:off x="150876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Radiometric calibration</a:t>
            </a:r>
            <a:endParaRPr lang="en-US" sz="1600" dirty="0"/>
          </a:p>
        </p:txBody>
      </p:sp>
      <p:sp>
        <p:nvSpPr>
          <p:cNvPr id="7" name="text-145"/>
          <p:cNvSpPr txBox="1"/>
          <p:nvPr/>
        </p:nvSpPr>
        <p:spPr>
          <a:xfrm>
            <a:off x="4343400" y="1417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Raw digital numbers become true radar cross-section backscatter power</a:t>
            </a:r>
            <a:endParaRPr lang="en-US" sz="1400" dirty="0"/>
          </a:p>
        </p:txBody>
      </p:sp>
      <p:sp>
        <p:nvSpPr>
          <p:cNvPr id="8" name="card-146"/>
          <p:cNvSpPr/>
          <p:nvPr/>
        </p:nvSpPr>
        <p:spPr>
          <a:xfrm>
            <a:off x="8549640" y="1554480"/>
            <a:ext cx="292608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-147"/>
          <p:cNvSpPr txBox="1"/>
          <p:nvPr/>
        </p:nvSpPr>
        <p:spPr>
          <a:xfrm>
            <a:off x="864108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σ⁰ = (DN² / K_cal) · sin(θ_inc)</a:t>
            </a:r>
            <a:endParaRPr lang="en-US" sz="1400" dirty="0"/>
          </a:p>
        </p:txBody>
      </p:sp>
      <p:sp>
        <p:nvSpPr>
          <p:cNvPr id="10" name="card-148"/>
          <p:cNvSpPr/>
          <p:nvPr/>
        </p:nvSpPr>
        <p:spPr>
          <a:xfrm>
            <a:off x="548640" y="237744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1" name="badge-149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12" name="text-150"/>
          <p:cNvSpPr txBox="1"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-151"/>
          <p:cNvSpPr txBox="1"/>
          <p:nvPr/>
        </p:nvSpPr>
        <p:spPr>
          <a:xfrm>
            <a:off x="1508760" y="2377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Logarithmic dB transform</a:t>
            </a:r>
            <a:endParaRPr lang="en-US" sz="1600" dirty="0"/>
          </a:p>
        </p:txBody>
      </p:sp>
      <p:sp>
        <p:nvSpPr>
          <p:cNvPr id="14" name="text-152"/>
          <p:cNvSpPr txBox="1"/>
          <p:nvPr/>
        </p:nvSpPr>
        <p:spPr>
          <a:xfrm>
            <a:off x="4343400" y="2377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Compresses extreme dynamic range; reveals faint hull shadows</a:t>
            </a:r>
            <a:endParaRPr lang="en-US" sz="1400" dirty="0"/>
          </a:p>
        </p:txBody>
      </p:sp>
      <p:sp>
        <p:nvSpPr>
          <p:cNvPr id="15" name="card-153"/>
          <p:cNvSpPr/>
          <p:nvPr/>
        </p:nvSpPr>
        <p:spPr>
          <a:xfrm>
            <a:off x="8549640" y="2514600"/>
            <a:ext cx="292608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-154"/>
          <p:cNvSpPr txBox="1"/>
          <p:nvPr/>
        </p:nvSpPr>
        <p:spPr>
          <a:xfrm>
            <a:off x="864108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σ⁰_dB = 10 · log10(σ⁰ + ε)</a:t>
            </a:r>
            <a:endParaRPr lang="en-US" sz="1400" dirty="0"/>
          </a:p>
        </p:txBody>
      </p:sp>
      <p:sp>
        <p:nvSpPr>
          <p:cNvPr id="17" name="card-155"/>
          <p:cNvSpPr/>
          <p:nvPr/>
        </p:nvSpPr>
        <p:spPr>
          <a:xfrm>
            <a:off x="548640" y="333756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8" name="badge-156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19" name="text-157"/>
          <p:cNvSpPr txBox="1"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-158"/>
          <p:cNvSpPr txBox="1"/>
          <p:nvPr/>
        </p:nvSpPr>
        <p:spPr>
          <a:xfrm>
            <a:off x="150876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Bilateral despeckling</a:t>
            </a:r>
            <a:endParaRPr lang="en-US" sz="1600" dirty="0"/>
          </a:p>
        </p:txBody>
      </p:sp>
      <p:sp>
        <p:nvSpPr>
          <p:cNvPr id="21" name="text-159"/>
          <p:cNvSpPr txBox="1"/>
          <p:nvPr/>
        </p:nvSpPr>
        <p:spPr>
          <a:xfrm>
            <a:off x="4343400" y="3337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Removes speckle grain, keeps vehicle edges and gun barrels</a:t>
            </a:r>
            <a:endParaRPr lang="en-US" sz="1400" dirty="0"/>
          </a:p>
        </p:txBody>
      </p:sp>
      <p:sp>
        <p:nvSpPr>
          <p:cNvPr id="22" name="card-160"/>
          <p:cNvSpPr/>
          <p:nvPr/>
        </p:nvSpPr>
        <p:spPr>
          <a:xfrm>
            <a:off x="8549640" y="3474720"/>
            <a:ext cx="292608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-161"/>
          <p:cNvSpPr txBox="1"/>
          <p:nvPr/>
        </p:nvSpPr>
        <p:spPr>
          <a:xfrm>
            <a:off x="864108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5, σ_color = 12, σ_space = 5</a:t>
            </a:r>
            <a:endParaRPr lang="en-US" sz="1400" dirty="0"/>
          </a:p>
        </p:txBody>
      </p:sp>
      <p:sp>
        <p:nvSpPr>
          <p:cNvPr id="24" name="card-162"/>
          <p:cNvSpPr/>
          <p:nvPr/>
        </p:nvSpPr>
        <p:spPr>
          <a:xfrm>
            <a:off x="548640" y="429768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5" name="badge-163"/>
          <p:cNvSpPr/>
          <p:nvPr/>
        </p:nvSpPr>
        <p:spPr>
          <a:xfrm>
            <a:off x="731520" y="4434840"/>
            <a:ext cx="548640" cy="54864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26" name="text-164"/>
          <p:cNvSpPr txBox="1"/>
          <p:nvPr/>
        </p:nvSpPr>
        <p:spPr>
          <a:xfrm>
            <a:off x="73152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text-165"/>
          <p:cNvSpPr txBox="1"/>
          <p:nvPr/>
        </p:nvSpPr>
        <p:spPr>
          <a:xfrm>
            <a:off x="1508760" y="4297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Dynamic-range preservation</a:t>
            </a:r>
            <a:endParaRPr lang="en-US" sz="1600" dirty="0"/>
          </a:p>
        </p:txBody>
      </p:sp>
      <p:sp>
        <p:nvSpPr>
          <p:cNvPr id="28" name="text-166"/>
          <p:cNvSpPr txBox="1"/>
          <p:nvPr/>
        </p:nvSpPr>
        <p:spPr>
          <a:xfrm>
            <a:off x="4343400" y="4297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Ground patches match the distribution the neural ATR expects</a:t>
            </a:r>
            <a:endParaRPr lang="en-US" sz="1400" dirty="0"/>
          </a:p>
        </p:txBody>
      </p:sp>
      <p:sp>
        <p:nvSpPr>
          <p:cNvPr id="29" name="card-167"/>
          <p:cNvSpPr/>
          <p:nvPr/>
        </p:nvSpPr>
        <p:spPr>
          <a:xfrm>
            <a:off x="8549640" y="4434840"/>
            <a:ext cx="292608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-168"/>
          <p:cNvSpPr txBox="1"/>
          <p:nvPr/>
        </p:nvSpPr>
        <p:spPr>
          <a:xfrm>
            <a:off x="864108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CLAHE equalization</a:t>
            </a:r>
            <a:endParaRPr lang="en-US" sz="1400" dirty="0"/>
          </a:p>
        </p:txBody>
      </p:sp>
      <p:sp>
        <p:nvSpPr>
          <p:cNvPr id="31" name="card-169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32" name="badge-170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33" name="text-171"/>
          <p:cNvSpPr txBox="1"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4" name="text-172"/>
          <p:cNvSpPr txBox="1"/>
          <p:nvPr/>
        </p:nvSpPr>
        <p:spPr>
          <a:xfrm>
            <a:off x="1508760" y="5257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Dual calibrated export</a:t>
            </a:r>
            <a:endParaRPr lang="en-US" sz="1600" dirty="0"/>
          </a:p>
        </p:txBody>
      </p:sp>
      <p:sp>
        <p:nvSpPr>
          <p:cNvPr id="35" name="text-173"/>
          <p:cNvSpPr txBox="1"/>
          <p:nvPr/>
        </p:nvSpPr>
        <p:spPr>
          <a:xfrm>
            <a:off x="4343400" y="5257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Calibrated GeoTIFF for GIS, pseudo-RGB PNG for analysts</a:t>
            </a:r>
            <a:endParaRPr lang="en-US" sz="1400" dirty="0"/>
          </a:p>
        </p:txBody>
      </p:sp>
      <p:sp>
        <p:nvSpPr>
          <p:cNvPr id="36" name="card-174"/>
          <p:cNvSpPr/>
          <p:nvPr/>
        </p:nvSpPr>
        <p:spPr>
          <a:xfrm>
            <a:off x="8549640" y="5394960"/>
            <a:ext cx="292608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text-175"/>
          <p:cNvSpPr txBox="1"/>
          <p:nvPr/>
        </p:nvSpPr>
        <p:spPr>
          <a:xfrm>
            <a:off x="8641080" y="5394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16-bit .tif + 8-bit .png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3: intelligent domain switching</a:t>
            </a:r>
            <a:endParaRPr lang="en-US" sz="3400" dirty="0"/>
          </a:p>
        </p:txBody>
      </p:sp>
      <p:sp>
        <p:nvSpPr>
          <p:cNvPr id="3" name="card-176"/>
          <p:cNvSpPr/>
          <p:nvPr/>
        </p:nvSpPr>
        <p:spPr>
          <a:xfrm>
            <a:off x="548640" y="141732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4" name="text-177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One network cannot detect both a 300 m aircraft carrier on calm water and a 7 m T-72 tank hidden in rugged terrain.</a:t>
            </a:r>
            <a:endParaRPr lang="en-US" sz="1600" dirty="0"/>
          </a:p>
        </p:txBody>
      </p:sp>
      <p:sp>
        <p:nvSpPr>
          <p:cNvPr id="5" name="card-178"/>
          <p:cNvSpPr/>
          <p:nvPr/>
        </p:nvSpPr>
        <p:spPr>
          <a:xfrm>
            <a:off x="548640" y="2377440"/>
            <a:ext cx="5440680" cy="38862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6" name="badge-179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1F5F7A"/>
          </a:solidFill>
          <a:ln/>
        </p:spPr>
      </p:sp>
      <p:pic>
        <p:nvPicPr>
          <p:cNvPr id="7" name="icon-180" descr="Wat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766060"/>
            <a:ext cx="320040" cy="320040"/>
          </a:xfrm>
          <a:prstGeom prst="rect">
            <a:avLst/>
          </a:prstGeom>
        </p:spPr>
      </p:pic>
      <p:sp>
        <p:nvSpPr>
          <p:cNvPr id="8" name="text-181"/>
          <p:cNvSpPr txBox="1"/>
          <p:nvPr/>
        </p:nvSpPr>
        <p:spPr>
          <a:xfrm>
            <a:off x="16459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Ocean / maritime domain</a:t>
            </a:r>
            <a:endParaRPr lang="en-US" sz="2200" dirty="0"/>
          </a:p>
        </p:txBody>
      </p:sp>
      <p:sp>
        <p:nvSpPr>
          <p:cNvPr id="9" name="text-182"/>
          <p:cNvSpPr txBox="1"/>
          <p:nvPr/>
        </p:nvSpPr>
        <p:spPr>
          <a:xfrm>
            <a:off x="822960" y="3429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Water acts as a specular mirror for microwaves, scattering pulses away from the antenna and dropping the clutter floor near zero.</a:t>
            </a:r>
            <a:endParaRPr lang="en-US" sz="1400" dirty="0"/>
          </a:p>
        </p:txBody>
      </p:sp>
      <p:sp>
        <p:nvSpPr>
          <p:cNvPr id="10" name="card-183"/>
          <p:cNvSpPr/>
          <p:nvPr/>
        </p:nvSpPr>
        <p:spPr>
          <a:xfrm>
            <a:off x="822960" y="429768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1" name="text-184"/>
          <p:cNvSpPr txBox="1"/>
          <p:nvPr/>
        </p:nvSpPr>
        <p:spPr>
          <a:xfrm>
            <a:off x="960120" y="4370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&lt; 15 DN</a:t>
            </a:r>
            <a:endParaRPr lang="en-US" sz="2400" dirty="0"/>
          </a:p>
        </p:txBody>
      </p:sp>
      <p:sp>
        <p:nvSpPr>
          <p:cNvPr id="12" name="text-185"/>
          <p:cNvSpPr txBox="1"/>
          <p:nvPr/>
        </p:nvSpPr>
        <p:spPr>
          <a:xfrm>
            <a:off x="960120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mean backscatter, low variance</a:t>
            </a:r>
            <a:endParaRPr lang="en-US" sz="1200" dirty="0"/>
          </a:p>
        </p:txBody>
      </p:sp>
      <p:sp>
        <p:nvSpPr>
          <p:cNvPr id="13" name="card-186"/>
          <p:cNvSpPr/>
          <p:nvPr/>
        </p:nvSpPr>
        <p:spPr>
          <a:xfrm>
            <a:off x="3337560" y="429768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4" name="text-187"/>
          <p:cNvSpPr txBox="1"/>
          <p:nvPr/>
        </p:nvSpPr>
        <p:spPr>
          <a:xfrm>
            <a:off x="3474720" y="4370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&gt; 10 dB</a:t>
            </a:r>
            <a:endParaRPr lang="en-US" sz="2400" dirty="0"/>
          </a:p>
        </p:txBody>
      </p:sp>
      <p:sp>
        <p:nvSpPr>
          <p:cNvPr id="15" name="text-188"/>
          <p:cNvSpPr txBox="1"/>
          <p:nvPr/>
        </p:nvSpPr>
        <p:spPr>
          <a:xfrm>
            <a:off x="3474720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vessel double-bounce RCS</a:t>
            </a:r>
            <a:endParaRPr lang="en-US" sz="1200" dirty="0"/>
          </a:p>
        </p:txBody>
      </p:sp>
      <p:sp>
        <p:nvSpPr>
          <p:cNvPr id="16" name="card-189"/>
          <p:cNvSpPr/>
          <p:nvPr/>
        </p:nvSpPr>
        <p:spPr>
          <a:xfrm>
            <a:off x="822960" y="5440680"/>
            <a:ext cx="4892040" cy="640080"/>
          </a:xfrm>
          <a:prstGeom prst="roundRect">
            <a:avLst>
              <a:gd name="adj" fmla="val 14286"/>
            </a:avLst>
          </a:prstGeom>
          <a:solidFill>
            <a:srgbClr val="0A8577"/>
          </a:solidFill>
          <a:ln/>
        </p:spPr>
      </p:sp>
      <p:sp>
        <p:nvSpPr>
          <p:cNvPr id="17" name="text-190"/>
          <p:cNvSpPr txBox="1"/>
          <p:nvPr/>
        </p:nvSpPr>
        <p:spPr>
          <a:xfrm>
            <a:off x="1005840" y="54406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Domain: ocean → Model 2 (YOLOv8 Maritime Detector)</a:t>
            </a:r>
            <a:endParaRPr lang="en-US" sz="1400" dirty="0"/>
          </a:p>
        </p:txBody>
      </p:sp>
      <p:sp>
        <p:nvSpPr>
          <p:cNvPr id="18" name="card-191"/>
          <p:cNvSpPr/>
          <p:nvPr/>
        </p:nvSpPr>
        <p:spPr>
          <a:xfrm>
            <a:off x="6199632" y="2377440"/>
            <a:ext cx="5440680" cy="38862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19" name="badge-192"/>
          <p:cNvSpPr/>
          <p:nvPr/>
        </p:nvSpPr>
        <p:spPr>
          <a:xfrm>
            <a:off x="6473952" y="2606040"/>
            <a:ext cx="640080" cy="640080"/>
          </a:xfrm>
          <a:prstGeom prst="ellipse">
            <a:avLst/>
          </a:prstGeom>
          <a:solidFill>
            <a:srgbClr val="1F5F7A"/>
          </a:solidFill>
          <a:ln/>
        </p:spPr>
      </p:sp>
      <p:pic>
        <p:nvPicPr>
          <p:cNvPr id="20" name="icon-193" descr="Mountai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2766060"/>
            <a:ext cx="320040" cy="320040"/>
          </a:xfrm>
          <a:prstGeom prst="rect">
            <a:avLst/>
          </a:prstGeom>
        </p:spPr>
      </p:pic>
      <p:sp>
        <p:nvSpPr>
          <p:cNvPr id="21" name="text-194"/>
          <p:cNvSpPr txBox="1"/>
          <p:nvPr/>
        </p:nvSpPr>
        <p:spPr>
          <a:xfrm>
            <a:off x="7296912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Ground / battlefield domain</a:t>
            </a:r>
            <a:endParaRPr lang="en-US" sz="2200" dirty="0"/>
          </a:p>
        </p:txBody>
      </p:sp>
      <p:sp>
        <p:nvSpPr>
          <p:cNvPr id="22" name="text-195"/>
          <p:cNvSpPr txBox="1"/>
          <p:nvPr/>
        </p:nvSpPr>
        <p:spPr>
          <a:xfrm>
            <a:off x="6473952" y="3429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Rough soil, vegetation, rock and concrete produce diffuse volume and surface backscatter with heavy clutter.</a:t>
            </a:r>
            <a:endParaRPr lang="en-US" sz="1400" dirty="0"/>
          </a:p>
        </p:txBody>
      </p:sp>
      <p:sp>
        <p:nvSpPr>
          <p:cNvPr id="23" name="card-196"/>
          <p:cNvSpPr/>
          <p:nvPr/>
        </p:nvSpPr>
        <p:spPr>
          <a:xfrm>
            <a:off x="6473952" y="429768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24" name="text-197"/>
          <p:cNvSpPr txBox="1"/>
          <p:nvPr/>
        </p:nvSpPr>
        <p:spPr>
          <a:xfrm>
            <a:off x="6611112" y="4370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60–120 DN</a:t>
            </a:r>
            <a:endParaRPr lang="en-US" sz="2400" dirty="0"/>
          </a:p>
        </p:txBody>
      </p:sp>
      <p:sp>
        <p:nvSpPr>
          <p:cNvPr id="25" name="text-198"/>
          <p:cNvSpPr txBox="1"/>
          <p:nvPr/>
        </p:nvSpPr>
        <p:spPr>
          <a:xfrm>
            <a:off x="6611112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mean backscatter, high variance</a:t>
            </a:r>
            <a:endParaRPr lang="en-US" sz="1200" dirty="0"/>
          </a:p>
        </p:txBody>
      </p:sp>
      <p:sp>
        <p:nvSpPr>
          <p:cNvPr id="26" name="card-199"/>
          <p:cNvSpPr/>
          <p:nvPr/>
        </p:nvSpPr>
        <p:spPr>
          <a:xfrm>
            <a:off x="8988552" y="429768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27" name="text-200"/>
          <p:cNvSpPr txBox="1"/>
          <p:nvPr/>
        </p:nvSpPr>
        <p:spPr>
          <a:xfrm>
            <a:off x="9125712" y="4370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Diffuse</a:t>
            </a:r>
            <a:endParaRPr lang="en-US" sz="2400" dirty="0"/>
          </a:p>
        </p:txBody>
      </p:sp>
      <p:sp>
        <p:nvSpPr>
          <p:cNvPr id="28" name="text-201"/>
          <p:cNvSpPr txBox="1"/>
          <p:nvPr/>
        </p:nvSpPr>
        <p:spPr>
          <a:xfrm>
            <a:off x="9125712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soil, vegetation, rock, concrete</a:t>
            </a:r>
            <a:endParaRPr lang="en-US" sz="1200" dirty="0"/>
          </a:p>
        </p:txBody>
      </p:sp>
      <p:sp>
        <p:nvSpPr>
          <p:cNvPr id="29" name="card-202"/>
          <p:cNvSpPr/>
          <p:nvPr/>
        </p:nvSpPr>
        <p:spPr>
          <a:xfrm>
            <a:off x="6473952" y="5440680"/>
            <a:ext cx="4892040" cy="640080"/>
          </a:xfrm>
          <a:prstGeom prst="roundRect">
            <a:avLst>
              <a:gd name="adj" fmla="val 14286"/>
            </a:avLst>
          </a:prstGeom>
          <a:solidFill>
            <a:srgbClr val="0A8577"/>
          </a:solidFill>
          <a:ln/>
        </p:spPr>
      </p:sp>
      <p:sp>
        <p:nvSpPr>
          <p:cNvPr id="30" name="text-203"/>
          <p:cNvSpPr txBox="1"/>
          <p:nvPr/>
        </p:nvSpPr>
        <p:spPr>
          <a:xfrm>
            <a:off x="6656832" y="54406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Domain: ground or multi_temporal → Model 1 (MSTAR ResNet-18 ATR)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4: ground ATR with ResNet-18 on MSTAR</a:t>
            </a:r>
            <a:endParaRPr lang="en-US" sz="3400" dirty="0"/>
          </a:p>
        </p:txBody>
      </p:sp>
      <p:sp>
        <p:nvSpPr>
          <p:cNvPr id="3" name="card-204"/>
          <p:cNvSpPr/>
          <p:nvPr/>
        </p:nvSpPr>
        <p:spPr>
          <a:xfrm>
            <a:off x="548640" y="1417320"/>
            <a:ext cx="3749040" cy="1737360"/>
          </a:xfrm>
          <a:prstGeom prst="roundRect">
            <a:avLst>
              <a:gd name="adj" fmla="val 5263"/>
            </a:avLst>
          </a:prstGeom>
          <a:solidFill>
            <a:schemeClr val="tx1"/>
          </a:solidFill>
          <a:ln/>
        </p:spPr>
      </p:sp>
      <p:sp>
        <p:nvSpPr>
          <p:cNvPr id="4" name="text-205"/>
          <p:cNvSpPr txBox="1"/>
          <p:nvPr/>
        </p:nvSpPr>
        <p:spPr>
          <a:xfrm>
            <a:off x="822960" y="1508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chemeClr val="accent6"/>
                </a:solidFill>
              </a:rPr>
              <a:t>98.10%</a:t>
            </a:r>
            <a:endParaRPr lang="en-US" sz="5200" dirty="0"/>
          </a:p>
        </p:txBody>
      </p:sp>
      <p:sp>
        <p:nvSpPr>
          <p:cNvPr id="5" name="text-206"/>
          <p:cNvSpPr txBox="1"/>
          <p:nvPr/>
        </p:nvSpPr>
        <p:spPr>
          <a:xfrm>
            <a:off x="82296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test accuracy on 2,425 official AFRL MSTAR radar chips</a:t>
            </a:r>
            <a:endParaRPr lang="en-US" sz="1400" dirty="0"/>
          </a:p>
        </p:txBody>
      </p:sp>
      <p:sp>
        <p:nvSpPr>
          <p:cNvPr id="6" name="card-207"/>
          <p:cNvSpPr/>
          <p:nvPr/>
        </p:nvSpPr>
        <p:spPr>
          <a:xfrm>
            <a:off x="548640" y="3337560"/>
            <a:ext cx="3749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text-208"/>
          <p:cNvSpPr txBox="1"/>
          <p:nvPr/>
        </p:nvSpPr>
        <p:spPr>
          <a:xfrm>
            <a:off x="82296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42.71 MB</a:t>
            </a:r>
            <a:endParaRPr lang="en-US" sz="3000" dirty="0"/>
          </a:p>
        </p:txBody>
      </p:sp>
      <p:sp>
        <p:nvSpPr>
          <p:cNvPr id="8" name="text-209"/>
          <p:cNvSpPr txBox="1"/>
          <p:nvPr/>
        </p:nvSpPr>
        <p:spPr>
          <a:xfrm>
            <a:off x="82296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11,175,370 parameters (11.2 M)</a:t>
            </a:r>
            <a:endParaRPr lang="en-US" sz="1400" dirty="0"/>
          </a:p>
        </p:txBody>
      </p:sp>
      <p:sp>
        <p:nvSpPr>
          <p:cNvPr id="9" name="card-210"/>
          <p:cNvSpPr/>
          <p:nvPr/>
        </p:nvSpPr>
        <p:spPr>
          <a:xfrm>
            <a:off x="548640" y="4892040"/>
            <a:ext cx="3749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text-211"/>
          <p:cNvSpPr txBox="1"/>
          <p:nvPr/>
        </p:nvSpPr>
        <p:spPr>
          <a:xfrm>
            <a:off x="822960" y="4983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5,172 real radar images</a:t>
            </a:r>
            <a:endParaRPr lang="en-US" sz="2000" dirty="0"/>
          </a:p>
        </p:txBody>
      </p:sp>
      <p:sp>
        <p:nvSpPr>
          <p:cNvPr id="11" name="text-212"/>
          <p:cNvSpPr txBox="1"/>
          <p:nvPr/>
        </p:nvSpPr>
        <p:spPr>
          <a:xfrm>
            <a:off x="82296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2,747 train, 2,425 test. 1-channel 7×7 stride-2 input, 10-class head.</a:t>
            </a:r>
            <a:endParaRPr lang="en-US" sz="1400" dirty="0"/>
          </a:p>
        </p:txBody>
      </p:sp>
      <p:graphicFrame>
        <p:nvGraphicFramePr>
          <p:cNvPr id="12" name="chart-class-accuracy"/>
          <p:cNvGraphicFramePr/>
          <p:nvPr/>
        </p:nvGraphicFramePr>
        <p:xfrm>
          <a:off x="4572000" y="1371600"/>
          <a:ext cx="7068312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-213"/>
          <p:cNvSpPr txBox="1"/>
          <p:nvPr/>
        </p:nvSpPr>
        <p:spPr>
          <a:xfrm>
            <a:off x="4572000" y="5623560"/>
            <a:ext cx="7068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Tanks (T-72, T-62), IFV (BMP-2), APCs (BTR-70, BTR-60), scout (BRDM-2), howitzer (2S1), anti-aircraft gun (ZSU-23-4), logistics truck (ZIL-131), engineering bulldozer (D7).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Maritime detection and CFAR target isolation</a:t>
            </a:r>
            <a:endParaRPr lang="en-US" sz="3400" dirty="0"/>
          </a:p>
        </p:txBody>
      </p:sp>
      <p:sp>
        <p:nvSpPr>
          <p:cNvPr id="3" name="card-214"/>
          <p:cNvSpPr/>
          <p:nvPr/>
        </p:nvSpPr>
        <p:spPr>
          <a:xfrm>
            <a:off x="548640" y="1417320"/>
            <a:ext cx="4572000" cy="3794760"/>
          </a:xfrm>
          <a:prstGeom prst="roundRect">
            <a:avLst>
              <a:gd name="adj" fmla="val 2410"/>
            </a:avLst>
          </a:prstGeom>
          <a:solidFill>
            <a:schemeClr val="bg2"/>
          </a:solidFill>
          <a:ln/>
        </p:spPr>
      </p:sp>
      <p:sp>
        <p:nvSpPr>
          <p:cNvPr id="4" name="badge-215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F5F7A"/>
          </a:solidFill>
          <a:ln/>
        </p:spPr>
      </p:sp>
      <p:pic>
        <p:nvPicPr>
          <p:cNvPr id="5" name="icon-216" descr="Shi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text-217"/>
          <p:cNvSpPr txBox="1"/>
          <p:nvPr/>
        </p:nvSpPr>
        <p:spPr>
          <a:xfrm>
            <a:off x="1554480" y="1600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Maritime: YOLOv8 SAR vessel detector</a:t>
            </a:r>
            <a:endParaRPr lang="en-US" sz="1800" dirty="0"/>
          </a:p>
        </p:txBody>
      </p:sp>
      <p:sp>
        <p:nvSpPr>
          <p:cNvPr id="7" name="card-218"/>
          <p:cNvSpPr/>
          <p:nvPr/>
        </p:nvSpPr>
        <p:spPr>
          <a:xfrm>
            <a:off x="822960" y="242316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8" name="text-219"/>
          <p:cNvSpPr txBox="1"/>
          <p:nvPr/>
        </p:nvSpPr>
        <p:spPr>
          <a:xfrm>
            <a:off x="960120" y="24871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5.97 MB</a:t>
            </a:r>
            <a:endParaRPr lang="en-US" sz="2200" dirty="0"/>
          </a:p>
        </p:txBody>
      </p:sp>
      <p:sp>
        <p:nvSpPr>
          <p:cNvPr id="9" name="text-220"/>
          <p:cNvSpPr txBox="1"/>
          <p:nvPr/>
        </p:nvSpPr>
        <p:spPr>
          <a:xfrm>
            <a:off x="96012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model size</a:t>
            </a:r>
            <a:endParaRPr lang="en-US" sz="1200" dirty="0"/>
          </a:p>
        </p:txBody>
      </p:sp>
      <p:sp>
        <p:nvSpPr>
          <p:cNvPr id="10" name="card-221"/>
          <p:cNvSpPr/>
          <p:nvPr/>
        </p:nvSpPr>
        <p:spPr>
          <a:xfrm>
            <a:off x="2834640" y="242316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1" name="text-222"/>
          <p:cNvSpPr txBox="1"/>
          <p:nvPr/>
        </p:nvSpPr>
        <p:spPr>
          <a:xfrm>
            <a:off x="2971800" y="24871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&lt; 15 ms</a:t>
            </a:r>
            <a:endParaRPr lang="en-US" sz="2200" dirty="0"/>
          </a:p>
        </p:txBody>
      </p:sp>
      <p:sp>
        <p:nvSpPr>
          <p:cNvPr id="12" name="text-223"/>
          <p:cNvSpPr txBox="1"/>
          <p:nvPr/>
        </p:nvSpPr>
        <p:spPr>
          <a:xfrm>
            <a:off x="297180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per 512×512 tile</a:t>
            </a:r>
            <a:endParaRPr lang="en-US" sz="1200" dirty="0"/>
          </a:p>
        </p:txBody>
      </p:sp>
      <p:sp>
        <p:nvSpPr>
          <p:cNvPr id="13" name="text-224"/>
          <p:cNvSpPr txBox="1"/>
          <p:nvPr/>
        </p:nvSpPr>
        <p:spPr>
          <a:xfrm>
            <a:off x="82296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Classes recognized</a:t>
            </a:r>
            <a:endParaRPr lang="en-US" sz="1400" dirty="0"/>
          </a:p>
        </p:txBody>
      </p:sp>
      <p:sp>
        <p:nvSpPr>
          <p:cNvPr id="14" name="text-225"/>
          <p:cNvSpPr txBox="1"/>
          <p:nvPr/>
        </p:nvSpPr>
        <p:spPr>
          <a:xfrm>
            <a:off x="822960" y="38404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Aircraft carrier strike groups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Naval guided-missile warships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 patrol interceptor boats</a:t>
            </a:r>
            <a:endParaRPr lang="en-US" sz="1400" dirty="0"/>
          </a:p>
        </p:txBody>
      </p:sp>
      <p:sp>
        <p:nvSpPr>
          <p:cNvPr id="15" name="card-226"/>
          <p:cNvSpPr/>
          <p:nvPr/>
        </p:nvSpPr>
        <p:spPr>
          <a:xfrm>
            <a:off x="5303520" y="1417320"/>
            <a:ext cx="6336792" cy="3794760"/>
          </a:xfrm>
          <a:prstGeom prst="roundRect">
            <a:avLst>
              <a:gd name="adj" fmla="val 2410"/>
            </a:avLst>
          </a:prstGeom>
          <a:solidFill>
            <a:schemeClr val="bg2"/>
          </a:solidFill>
          <a:ln/>
        </p:spPr>
      </p:sp>
      <p:sp>
        <p:nvSpPr>
          <p:cNvPr id="16" name="badge-227"/>
          <p:cNvSpPr/>
          <p:nvPr/>
        </p:nvSpPr>
        <p:spPr>
          <a:xfrm>
            <a:off x="5577840" y="1645920"/>
            <a:ext cx="548640" cy="548640"/>
          </a:xfrm>
          <a:prstGeom prst="ellipse">
            <a:avLst/>
          </a:prstGeom>
          <a:solidFill>
            <a:srgbClr val="1F5F7A"/>
          </a:solidFill>
          <a:ln/>
        </p:spPr>
      </p:sp>
      <p:pic>
        <p:nvPicPr>
          <p:cNvPr id="17" name="icon-228" descr="Bullsey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783080"/>
            <a:ext cx="274320" cy="274320"/>
          </a:xfrm>
          <a:prstGeom prst="rect">
            <a:avLst/>
          </a:prstGeom>
        </p:spPr>
      </p:pic>
      <p:sp>
        <p:nvSpPr>
          <p:cNvPr id="18" name="text-229"/>
          <p:cNvSpPr txBox="1"/>
          <p:nvPr/>
        </p:nvSpPr>
        <p:spPr>
          <a:xfrm>
            <a:off x="6309360" y="1600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CFAR target isolation (ground)</a:t>
            </a:r>
            <a:endParaRPr lang="en-US" sz="1800" dirty="0"/>
          </a:p>
        </p:txBody>
      </p:sp>
      <p:sp>
        <p:nvSpPr>
          <p:cNvPr id="19" name="badge-230"/>
          <p:cNvSpPr/>
          <p:nvPr/>
        </p:nvSpPr>
        <p:spPr>
          <a:xfrm>
            <a:off x="5577840" y="2404872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20" name="text-231"/>
          <p:cNvSpPr txBox="1"/>
          <p:nvPr/>
        </p:nvSpPr>
        <p:spPr>
          <a:xfrm>
            <a:off x="55778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21" name="text-232"/>
          <p:cNvSpPr txBox="1"/>
          <p:nvPr/>
        </p:nvSpPr>
        <p:spPr>
          <a:xfrm>
            <a:off x="6217920" y="23317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95th-percentile adaptive threshold</a:t>
            </a:r>
            <a:endParaRPr lang="en-US" sz="1500" dirty="0"/>
          </a:p>
        </p:txBody>
      </p:sp>
      <p:sp>
        <p:nvSpPr>
          <p:cNvPr id="22" name="text-233"/>
          <p:cNvSpPr txBox="1"/>
          <p:nvPr/>
        </p:nvSpPr>
        <p:spPr>
          <a:xfrm>
            <a:off x="6217920" y="26334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Rejects background speckle clutter</a:t>
            </a:r>
            <a:endParaRPr lang="en-US" sz="1400" dirty="0"/>
          </a:p>
        </p:txBody>
      </p:sp>
      <p:sp>
        <p:nvSpPr>
          <p:cNvPr id="23" name="badge-234"/>
          <p:cNvSpPr/>
          <p:nvPr/>
        </p:nvSpPr>
        <p:spPr>
          <a:xfrm>
            <a:off x="5577840" y="3081528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24" name="text-235"/>
          <p:cNvSpPr txBox="1"/>
          <p:nvPr/>
        </p:nvSpPr>
        <p:spPr>
          <a:xfrm>
            <a:off x="557784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25" name="text-236"/>
          <p:cNvSpPr txBox="1"/>
          <p:nvPr/>
        </p:nvSpPr>
        <p:spPr>
          <a:xfrm>
            <a:off x="6217920" y="300837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Area filter: 80 to 2,500 pixels</a:t>
            </a:r>
            <a:endParaRPr lang="en-US" sz="1500" dirty="0"/>
          </a:p>
        </p:txBody>
      </p:sp>
      <p:sp>
        <p:nvSpPr>
          <p:cNvPr id="26" name="text-237"/>
          <p:cNvSpPr txBox="1"/>
          <p:nvPr/>
        </p:nvSpPr>
        <p:spPr>
          <a:xfrm>
            <a:off x="6217920" y="33101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Real vehicle footprint, 7.2 m² to 225 m²</a:t>
            </a:r>
            <a:endParaRPr lang="en-US" sz="1400" dirty="0"/>
          </a:p>
        </p:txBody>
      </p:sp>
      <p:sp>
        <p:nvSpPr>
          <p:cNvPr id="27" name="badge-238"/>
          <p:cNvSpPr/>
          <p:nvPr/>
        </p:nvSpPr>
        <p:spPr>
          <a:xfrm>
            <a:off x="5577840" y="3758184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28" name="text-239"/>
          <p:cNvSpPr txBox="1"/>
          <p:nvPr/>
        </p:nvSpPr>
        <p:spPr>
          <a:xfrm>
            <a:off x="55778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29" name="text-240"/>
          <p:cNvSpPr txBox="1"/>
          <p:nvPr/>
        </p:nvSpPr>
        <p:spPr>
          <a:xfrm>
            <a:off x="6217920" y="3685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Peak backscatter above 160 DN</a:t>
            </a:r>
            <a:endParaRPr lang="en-US" sz="1500" dirty="0"/>
          </a:p>
        </p:txBody>
      </p:sp>
      <p:sp>
        <p:nvSpPr>
          <p:cNvPr id="30" name="text-241"/>
          <p:cNvSpPr txBox="1"/>
          <p:nvPr/>
        </p:nvSpPr>
        <p:spPr>
          <a:xfrm>
            <a:off x="6217920" y="39867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Confirms a metallic corner reflector</a:t>
            </a:r>
            <a:endParaRPr lang="en-US" sz="1400" dirty="0"/>
          </a:p>
        </p:txBody>
      </p:sp>
      <p:sp>
        <p:nvSpPr>
          <p:cNvPr id="31" name="card-242"/>
          <p:cNvSpPr/>
          <p:nvPr/>
        </p:nvSpPr>
        <p:spPr>
          <a:xfrm>
            <a:off x="5577840" y="4389120"/>
            <a:ext cx="5788152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-243"/>
          <p:cNvSpPr txBox="1"/>
          <p:nvPr/>
        </p:nvSpPr>
        <p:spPr>
          <a:xfrm>
            <a:off x="5760720" y="43891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Outputs: oriented boxes, centroids, RCS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RCS_dB = 10 · log10( max( I_peak / μ_clutter , 1.01 ) )</a:t>
            </a:r>
            <a:endParaRPr lang="en-US" sz="1200" dirty="0"/>
          </a:p>
        </p:txBody>
      </p:sp>
      <p:sp>
        <p:nvSpPr>
          <p:cNvPr id="33" name="card-244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</p:sp>
      <p:sp>
        <p:nvSpPr>
          <p:cNvPr id="34" name="badge-245"/>
          <p:cNvSpPr/>
          <p:nvPr/>
        </p:nvSpPr>
        <p:spPr>
          <a:xfrm>
            <a:off x="822960" y="5623560"/>
            <a:ext cx="457200" cy="457200"/>
          </a:xfrm>
          <a:prstGeom prst="ellipse">
            <a:avLst/>
          </a:prstGeom>
          <a:solidFill>
            <a:srgbClr val="C23B33"/>
          </a:solidFill>
          <a:ln/>
        </p:spPr>
      </p:sp>
      <p:pic>
        <p:nvPicPr>
          <p:cNvPr id="35" name="icon-246" descr="Ba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5737860"/>
            <a:ext cx="228600" cy="228600"/>
          </a:xfrm>
          <a:prstGeom prst="rect">
            <a:avLst/>
          </a:prstGeom>
        </p:spPr>
      </p:pic>
      <p:sp>
        <p:nvSpPr>
          <p:cNvPr id="36" name="text-247"/>
          <p:cNvSpPr txBox="1"/>
          <p:nvPr/>
        </p:nvSpPr>
        <p:spPr>
          <a:xfrm>
            <a:off x="1463040" y="54406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ZERO IF-ELSE HEURISTICS   </a:t>
            </a:r>
            <a:r>
              <a:rPr lang="en-US" sz="1400" dirty="0">
                <a:solidFill>
                  <a:schemeClr val="bg1"/>
                </a:solidFill>
              </a:rPr>
              <a:t>Every class comes from a neural forward pass (torch.argmax of logits). No size-based guessing, no rule-based fallback.</a:t>
            </a:r>
            <a:endParaRPr lang="en-US" sz="18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5: native radar encoder (SAR-ViT)</a:t>
            </a:r>
            <a:endParaRPr lang="en-US" sz="3400" dirty="0"/>
          </a:p>
        </p:txBody>
      </p:sp>
      <p:sp>
        <p:nvSpPr>
          <p:cNvPr id="3" name="card-248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badge-249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C23B33"/>
          </a:solidFill>
          <a:ln/>
        </p:spPr>
      </p:sp>
      <p:pic>
        <p:nvPicPr>
          <p:cNvPr id="5" name="icon-250" descr="Time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14500"/>
            <a:ext cx="228600" cy="228600"/>
          </a:xfrm>
          <a:prstGeom prst="rect">
            <a:avLst/>
          </a:prstGeom>
        </p:spPr>
      </p:pic>
      <p:sp>
        <p:nvSpPr>
          <p:cNvPr id="6" name="text-251"/>
          <p:cNvSpPr txBox="1"/>
          <p:nvPr/>
        </p:nvSpPr>
        <p:spPr>
          <a:xfrm>
            <a:off x="1463040" y="1600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Optical CLIP models</a:t>
            </a:r>
            <a:endParaRPr lang="en-US" sz="1800" dirty="0"/>
          </a:p>
        </p:txBody>
      </p:sp>
      <p:sp>
        <p:nvSpPr>
          <p:cNvPr id="7" name="text-252"/>
          <p:cNvSpPr txBox="1"/>
          <p:nvPr/>
        </p:nvSpPr>
        <p:spPr>
          <a:xfrm>
            <a:off x="822960" y="2194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RemoteCLIP, Prithvi expect 3-channel RGB reflectance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Optical scattering assumptions fail on microwaves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Fed SAR, they output noisy, corrupted embeddings</a:t>
            </a:r>
            <a:endParaRPr lang="en-US" sz="1500" dirty="0"/>
          </a:p>
        </p:txBody>
      </p:sp>
      <p:sp>
        <p:nvSpPr>
          <p:cNvPr id="8" name="card-253"/>
          <p:cNvSpPr/>
          <p:nvPr/>
        </p:nvSpPr>
        <p:spPr>
          <a:xfrm>
            <a:off x="6199632" y="141732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9" name="badge-254"/>
          <p:cNvSpPr/>
          <p:nvPr/>
        </p:nvSpPr>
        <p:spPr>
          <a:xfrm>
            <a:off x="6473952" y="160020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10" name="icon-255" descr="Che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1714500"/>
            <a:ext cx="228600" cy="228600"/>
          </a:xfrm>
          <a:prstGeom prst="rect">
            <a:avLst/>
          </a:prstGeom>
        </p:spPr>
      </p:pic>
      <p:sp>
        <p:nvSpPr>
          <p:cNvPr id="11" name="text-256"/>
          <p:cNvSpPr txBox="1"/>
          <p:nvPr/>
        </p:nvSpPr>
        <p:spPr>
          <a:xfrm>
            <a:off x="7114032" y="1600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SAR imagery needs a radar-native model</a:t>
            </a:r>
            <a:endParaRPr lang="en-US" sz="1800" dirty="0"/>
          </a:p>
        </p:txBody>
      </p:sp>
      <p:sp>
        <p:nvSpPr>
          <p:cNvPr id="12" name="text-257"/>
          <p:cNvSpPr txBox="1"/>
          <p:nvPr/>
        </p:nvSpPr>
        <p:spPr>
          <a:xfrm>
            <a:off x="6473952" y="2194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Coherent microwave backscatter, not reflected light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Phase, Doppler frequency, dielectric roughness, metal double-bounce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Solved by a 1-channel radar Vision Transformer</a:t>
            </a:r>
            <a:endParaRPr lang="en-US" sz="1500" dirty="0"/>
          </a:p>
        </p:txBody>
      </p:sp>
      <p:sp>
        <p:nvSpPr>
          <p:cNvPr id="13" name="text-258"/>
          <p:cNvSpPr txBox="1"/>
          <p:nvPr/>
        </p:nvSpPr>
        <p:spPr>
          <a:xfrm>
            <a:off x="54864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SAR-ViT architecture (vit_tiny_patch16_224)</a:t>
            </a:r>
            <a:endParaRPr lang="en-US" sz="1600" dirty="0"/>
          </a:p>
        </p:txBody>
      </p:sp>
      <p:sp>
        <p:nvSpPr>
          <p:cNvPr id="14" name="card-259"/>
          <p:cNvSpPr/>
          <p:nvPr/>
        </p:nvSpPr>
        <p:spPr>
          <a:xfrm>
            <a:off x="548640" y="41148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2384A"/>
          </a:solidFill>
          <a:ln/>
        </p:spPr>
      </p:sp>
      <p:sp>
        <p:nvSpPr>
          <p:cNvPr id="15" name="text-260"/>
          <p:cNvSpPr txBox="1"/>
          <p:nvPr/>
        </p:nvSpPr>
        <p:spPr>
          <a:xfrm>
            <a:off x="64008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1-channel SAR tile</a:t>
            </a:r>
            <a:endParaRPr lang="en-US" sz="1400" dirty="0"/>
          </a:p>
        </p:txBody>
      </p:sp>
      <p:sp>
        <p:nvSpPr>
          <p:cNvPr id="16" name="arrow-261"/>
          <p:cNvSpPr/>
          <p:nvPr/>
        </p:nvSpPr>
        <p:spPr>
          <a:xfrm>
            <a:off x="2569464" y="4407408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7" name="card-262"/>
          <p:cNvSpPr/>
          <p:nvPr/>
        </p:nvSpPr>
        <p:spPr>
          <a:xfrm>
            <a:off x="2834640" y="41148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2384A"/>
          </a:solidFill>
          <a:ln/>
        </p:spPr>
      </p:sp>
      <p:sp>
        <p:nvSpPr>
          <p:cNvPr id="18" name="text-263"/>
          <p:cNvSpPr txBox="1"/>
          <p:nvPr/>
        </p:nvSpPr>
        <p:spPr>
          <a:xfrm>
            <a:off x="292608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1×16×16 patch embedding</a:t>
            </a:r>
            <a:endParaRPr lang="en-US" sz="1400" dirty="0"/>
          </a:p>
        </p:txBody>
      </p:sp>
      <p:sp>
        <p:nvSpPr>
          <p:cNvPr id="19" name="arrow-264"/>
          <p:cNvSpPr/>
          <p:nvPr/>
        </p:nvSpPr>
        <p:spPr>
          <a:xfrm>
            <a:off x="4855464" y="4407408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0" name="card-265"/>
          <p:cNvSpPr/>
          <p:nvPr/>
        </p:nvSpPr>
        <p:spPr>
          <a:xfrm>
            <a:off x="5120640" y="41148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2384A"/>
          </a:solidFill>
          <a:ln/>
        </p:spPr>
      </p:sp>
      <p:sp>
        <p:nvSpPr>
          <p:cNvPr id="21" name="text-266"/>
          <p:cNvSpPr txBox="1"/>
          <p:nvPr/>
        </p:nvSpPr>
        <p:spPr>
          <a:xfrm>
            <a:off x="521208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ViT-Tiny backbone (192-D)</a:t>
            </a:r>
            <a:endParaRPr lang="en-US" sz="1400" dirty="0"/>
          </a:p>
        </p:txBody>
      </p:sp>
      <p:sp>
        <p:nvSpPr>
          <p:cNvPr id="22" name="arrow-267"/>
          <p:cNvSpPr/>
          <p:nvPr/>
        </p:nvSpPr>
        <p:spPr>
          <a:xfrm>
            <a:off x="7141464" y="4407408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3" name="card-268"/>
          <p:cNvSpPr/>
          <p:nvPr/>
        </p:nvSpPr>
        <p:spPr>
          <a:xfrm>
            <a:off x="7406640" y="41148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2384A"/>
          </a:solidFill>
          <a:ln/>
        </p:spPr>
      </p:sp>
      <p:sp>
        <p:nvSpPr>
          <p:cNvPr id="24" name="text-269"/>
          <p:cNvSpPr txBox="1"/>
          <p:nvPr/>
        </p:nvSpPr>
        <p:spPr>
          <a:xfrm>
            <a:off x="749808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Projection head</a:t>
            </a:r>
            <a:endParaRPr lang="en-US" sz="1400" dirty="0"/>
          </a:p>
        </p:txBody>
      </p:sp>
      <p:sp>
        <p:nvSpPr>
          <p:cNvPr id="25" name="arrow-270"/>
          <p:cNvSpPr/>
          <p:nvPr/>
        </p:nvSpPr>
        <p:spPr>
          <a:xfrm>
            <a:off x="9427464" y="4407408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6" name="card-271"/>
          <p:cNvSpPr/>
          <p:nvPr/>
        </p:nvSpPr>
        <p:spPr>
          <a:xfrm>
            <a:off x="9692640" y="41148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A8577"/>
          </a:solidFill>
          <a:ln/>
        </p:spPr>
      </p:sp>
      <p:sp>
        <p:nvSpPr>
          <p:cNvPr id="27" name="text-272"/>
          <p:cNvSpPr txBox="1"/>
          <p:nvPr/>
        </p:nvSpPr>
        <p:spPr>
          <a:xfrm>
            <a:off x="978408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512-D radar embedding</a:t>
            </a:r>
            <a:endParaRPr lang="en-US" sz="1400" dirty="0"/>
          </a:p>
        </p:txBody>
      </p:sp>
      <p:sp>
        <p:nvSpPr>
          <p:cNvPr id="28" name="card-273"/>
          <p:cNvSpPr/>
          <p:nvPr/>
        </p:nvSpPr>
        <p:spPr>
          <a:xfrm>
            <a:off x="548640" y="5257800"/>
            <a:ext cx="35661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9" name="text-274"/>
          <p:cNvSpPr txBox="1"/>
          <p:nvPr/>
        </p:nvSpPr>
        <p:spPr>
          <a:xfrm>
            <a:off x="777240" y="5330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sar_semantic_vectors</a:t>
            </a:r>
            <a:endParaRPr lang="en-US" sz="1800" dirty="0"/>
          </a:p>
        </p:txBody>
      </p:sp>
      <p:sp>
        <p:nvSpPr>
          <p:cNvPr id="30" name="text-275"/>
          <p:cNvSpPr txBox="1"/>
          <p:nvPr/>
        </p:nvSpPr>
        <p:spPr>
          <a:xfrm>
            <a:off x="777240" y="5742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Qdrant collection (data/sar_qdrant/)</a:t>
            </a:r>
            <a:endParaRPr lang="en-US" sz="1400" dirty="0"/>
          </a:p>
        </p:txBody>
      </p:sp>
      <p:sp>
        <p:nvSpPr>
          <p:cNvPr id="31" name="card-276"/>
          <p:cNvSpPr/>
          <p:nvPr/>
        </p:nvSpPr>
        <p:spPr>
          <a:xfrm>
            <a:off x="4311396" y="5257800"/>
            <a:ext cx="35661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32" name="text-277"/>
          <p:cNvSpPr txBox="1"/>
          <p:nvPr/>
        </p:nvSpPr>
        <p:spPr>
          <a:xfrm>
            <a:off x="4539996" y="5330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Cosine + HNSW</a:t>
            </a:r>
            <a:endParaRPr lang="en-US" sz="1800" dirty="0"/>
          </a:p>
        </p:txBody>
      </p:sp>
      <p:sp>
        <p:nvSpPr>
          <p:cNvPr id="33" name="text-278"/>
          <p:cNvSpPr txBox="1"/>
          <p:nvPr/>
        </p:nvSpPr>
        <p:spPr>
          <a:xfrm>
            <a:off x="4539996" y="5742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similarity metric and index</a:t>
            </a:r>
            <a:endParaRPr lang="en-US" sz="1400" dirty="0"/>
          </a:p>
        </p:txBody>
      </p:sp>
      <p:sp>
        <p:nvSpPr>
          <p:cNvPr id="34" name="card-279"/>
          <p:cNvSpPr/>
          <p:nvPr/>
        </p:nvSpPr>
        <p:spPr>
          <a:xfrm>
            <a:off x="8074152" y="5257800"/>
            <a:ext cx="35661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35" name="text-280"/>
          <p:cNvSpPr txBox="1"/>
          <p:nvPr/>
        </p:nvSpPr>
        <p:spPr>
          <a:xfrm>
            <a:off x="8302752" y="5330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&lt; 5 ms</a:t>
            </a:r>
            <a:endParaRPr lang="en-US" sz="1800" dirty="0"/>
          </a:p>
        </p:txBody>
      </p:sp>
      <p:sp>
        <p:nvSpPr>
          <p:cNvPr id="36" name="text-281"/>
          <p:cNvSpPr txBox="1"/>
          <p:nvPr/>
        </p:nvSpPr>
        <p:spPr>
          <a:xfrm>
            <a:off x="8302752" y="5742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semantic retrieval latency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6: the Defense Master Template</a:t>
            </a:r>
            <a:endParaRPr lang="en-US" sz="3400" dirty="0"/>
          </a:p>
        </p:txBody>
      </p:sp>
      <p:sp>
        <p:nvSpPr>
          <p:cNvPr id="3" name="card-282"/>
          <p:cNvSpPr/>
          <p:nvPr/>
        </p:nvSpPr>
        <p:spPr>
          <a:xfrm>
            <a:off x="548640" y="1417320"/>
            <a:ext cx="65836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4" name="badge-283"/>
          <p:cNvSpPr/>
          <p:nvPr/>
        </p:nvSpPr>
        <p:spPr>
          <a:xfrm>
            <a:off x="713232" y="1517904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5" name="text-284"/>
          <p:cNvSpPr txBox="1"/>
          <p:nvPr/>
        </p:nvSpPr>
        <p:spPr>
          <a:xfrm>
            <a:off x="713232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-285"/>
          <p:cNvSpPr txBox="1"/>
          <p:nvPr/>
        </p:nvSpPr>
        <p:spPr>
          <a:xfrm>
            <a:off x="1371600" y="14813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Core identification</a:t>
            </a:r>
            <a:endParaRPr lang="en-US" sz="1500" dirty="0"/>
          </a:p>
        </p:txBody>
      </p:sp>
      <p:sp>
        <p:nvSpPr>
          <p:cNvPr id="7" name="text-286"/>
          <p:cNvSpPr txBox="1"/>
          <p:nvPr/>
        </p:nvSpPr>
        <p:spPr>
          <a:xfrm>
            <a:off x="1371600" y="17647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Scene ID, domain category, sector, timestamp</a:t>
            </a:r>
            <a:endParaRPr lang="en-US" sz="1400" dirty="0"/>
          </a:p>
        </p:txBody>
      </p:sp>
      <p:sp>
        <p:nvSpPr>
          <p:cNvPr id="8" name="card-287"/>
          <p:cNvSpPr/>
          <p:nvPr/>
        </p:nvSpPr>
        <p:spPr>
          <a:xfrm>
            <a:off x="548640" y="2167128"/>
            <a:ext cx="65836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9" name="badge-288"/>
          <p:cNvSpPr/>
          <p:nvPr/>
        </p:nvSpPr>
        <p:spPr>
          <a:xfrm>
            <a:off x="713232" y="2267712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10" name="text-289"/>
          <p:cNvSpPr txBox="1"/>
          <p:nvPr/>
        </p:nvSpPr>
        <p:spPr>
          <a:xfrm>
            <a:off x="7132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-290"/>
          <p:cNvSpPr txBox="1"/>
          <p:nvPr/>
        </p:nvSpPr>
        <p:spPr>
          <a:xfrm>
            <a:off x="1371600" y="223113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Sensor telemetry</a:t>
            </a:r>
            <a:endParaRPr lang="en-US" sz="1500" dirty="0"/>
          </a:p>
        </p:txBody>
      </p:sp>
      <p:sp>
        <p:nvSpPr>
          <p:cNvPr id="12" name="text-291"/>
          <p:cNvSpPr txBox="1"/>
          <p:nvPr/>
        </p:nvSpPr>
        <p:spPr>
          <a:xfrm>
            <a:off x="1371600" y="25146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X-Band 9.6 GHz, spotlight mode, HH polarization</a:t>
            </a:r>
            <a:endParaRPr lang="en-US" sz="1400" dirty="0"/>
          </a:p>
        </p:txBody>
      </p:sp>
      <p:sp>
        <p:nvSpPr>
          <p:cNvPr id="13" name="card-292"/>
          <p:cNvSpPr/>
          <p:nvPr/>
        </p:nvSpPr>
        <p:spPr>
          <a:xfrm>
            <a:off x="548640" y="2916936"/>
            <a:ext cx="65836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14" name="badge-293"/>
          <p:cNvSpPr/>
          <p:nvPr/>
        </p:nvSpPr>
        <p:spPr>
          <a:xfrm>
            <a:off x="713232" y="301752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15" name="text-294"/>
          <p:cNvSpPr txBox="1"/>
          <p:nvPr/>
        </p:nvSpPr>
        <p:spPr>
          <a:xfrm>
            <a:off x="71323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-295"/>
          <p:cNvSpPr txBox="1"/>
          <p:nvPr/>
        </p:nvSpPr>
        <p:spPr>
          <a:xfrm>
            <a:off x="1371600" y="298094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Geospatial telemetry</a:t>
            </a:r>
            <a:endParaRPr lang="en-US" sz="1500" dirty="0"/>
          </a:p>
        </p:txBody>
      </p:sp>
      <p:sp>
        <p:nvSpPr>
          <p:cNvPr id="17" name="text-296"/>
          <p:cNvSpPr txBox="1"/>
          <p:nvPr/>
        </p:nvSpPr>
        <p:spPr>
          <a:xfrm>
            <a:off x="1371600" y="326440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WGS84 bounds, center lat/lon, affine matrix</a:t>
            </a:r>
            <a:endParaRPr lang="en-US" sz="1400" dirty="0"/>
          </a:p>
        </p:txBody>
      </p:sp>
      <p:sp>
        <p:nvSpPr>
          <p:cNvPr id="18" name="card-297"/>
          <p:cNvSpPr/>
          <p:nvPr/>
        </p:nvSpPr>
        <p:spPr>
          <a:xfrm>
            <a:off x="548640" y="3666744"/>
            <a:ext cx="65836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19" name="badge-298"/>
          <p:cNvSpPr/>
          <p:nvPr/>
        </p:nvSpPr>
        <p:spPr>
          <a:xfrm>
            <a:off x="713232" y="3767328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20" name="text-299"/>
          <p:cNvSpPr txBox="1"/>
          <p:nvPr/>
        </p:nvSpPr>
        <p:spPr>
          <a:xfrm>
            <a:off x="713232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-300"/>
          <p:cNvSpPr txBox="1"/>
          <p:nvPr/>
        </p:nvSpPr>
        <p:spPr>
          <a:xfrm>
            <a:off x="1371600" y="37307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Neural ATR detections</a:t>
            </a:r>
            <a:endParaRPr lang="en-US" sz="1500" dirty="0"/>
          </a:p>
        </p:txBody>
      </p:sp>
      <p:sp>
        <p:nvSpPr>
          <p:cNvPr id="22" name="text-301"/>
          <p:cNvSpPr txBox="1"/>
          <p:nvPr/>
        </p:nvSpPr>
        <p:spPr>
          <a:xfrm>
            <a:off x="1371600" y="401421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Targets, bounding boxes, OBB, RCS (dB), confidence</a:t>
            </a:r>
            <a:endParaRPr lang="en-US" sz="1400" dirty="0"/>
          </a:p>
        </p:txBody>
      </p:sp>
      <p:sp>
        <p:nvSpPr>
          <p:cNvPr id="23" name="card-302"/>
          <p:cNvSpPr/>
          <p:nvPr/>
        </p:nvSpPr>
        <p:spPr>
          <a:xfrm>
            <a:off x="548640" y="4416552"/>
            <a:ext cx="65836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24" name="badge-303"/>
          <p:cNvSpPr/>
          <p:nvPr/>
        </p:nvSpPr>
        <p:spPr>
          <a:xfrm>
            <a:off x="713232" y="4517136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25" name="text-304"/>
          <p:cNvSpPr txBox="1"/>
          <p:nvPr/>
        </p:nvSpPr>
        <p:spPr>
          <a:xfrm>
            <a:off x="713232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5</a:t>
            </a:r>
            <a:endParaRPr lang="en-US" sz="1700" dirty="0"/>
          </a:p>
        </p:txBody>
      </p:sp>
      <p:sp>
        <p:nvSpPr>
          <p:cNvPr id="26" name="text-305"/>
          <p:cNvSpPr txBox="1"/>
          <p:nvPr/>
        </p:nvSpPr>
        <p:spPr>
          <a:xfrm>
            <a:off x="1371600" y="44805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File-system artifacts</a:t>
            </a:r>
            <a:endParaRPr lang="en-US" sz="1500" dirty="0"/>
          </a:p>
        </p:txBody>
      </p:sp>
      <p:sp>
        <p:nvSpPr>
          <p:cNvPr id="27" name="text-306"/>
          <p:cNvSpPr txBox="1"/>
          <p:nvPr/>
        </p:nvSpPr>
        <p:spPr>
          <a:xfrm>
            <a:off x="1371600" y="476402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Raw and processed .tif, .png, detection overlays</a:t>
            </a:r>
            <a:endParaRPr lang="en-US" sz="1400" dirty="0"/>
          </a:p>
        </p:txBody>
      </p:sp>
      <p:sp>
        <p:nvSpPr>
          <p:cNvPr id="28" name="card-307"/>
          <p:cNvSpPr/>
          <p:nvPr/>
        </p:nvSpPr>
        <p:spPr>
          <a:xfrm>
            <a:off x="548640" y="5166360"/>
            <a:ext cx="65836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29" name="badge-308"/>
          <p:cNvSpPr/>
          <p:nvPr/>
        </p:nvSpPr>
        <p:spPr>
          <a:xfrm>
            <a:off x="713232" y="5266944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30" name="text-309"/>
          <p:cNvSpPr txBox="1"/>
          <p:nvPr/>
        </p:nvSpPr>
        <p:spPr>
          <a:xfrm>
            <a:off x="713232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</a:t>
            </a:r>
            <a:endParaRPr lang="en-US" sz="1700" dirty="0"/>
          </a:p>
        </p:txBody>
      </p:sp>
      <p:sp>
        <p:nvSpPr>
          <p:cNvPr id="31" name="text-310"/>
          <p:cNvSpPr txBox="1"/>
          <p:nvPr/>
        </p:nvSpPr>
        <p:spPr>
          <a:xfrm>
            <a:off x="1371600" y="52303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Intelligence layer</a:t>
            </a:r>
            <a:endParaRPr lang="en-US" sz="1500" dirty="0"/>
          </a:p>
        </p:txBody>
      </p:sp>
      <p:sp>
        <p:nvSpPr>
          <p:cNvPr id="32" name="text-311"/>
          <p:cNvSpPr txBox="1"/>
          <p:nvPr/>
        </p:nvSpPr>
        <p:spPr>
          <a:xfrm>
            <a:off x="1371600" y="55138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512-D SAR-ViT vector, tactical DEFCON SITREP</a:t>
            </a:r>
            <a:endParaRPr lang="en-US" sz="1400" dirty="0"/>
          </a:p>
        </p:txBody>
      </p:sp>
      <p:sp>
        <p:nvSpPr>
          <p:cNvPr id="33" name="card-312"/>
          <p:cNvSpPr/>
          <p:nvPr/>
        </p:nvSpPr>
        <p:spPr>
          <a:xfrm>
            <a:off x="7406640" y="1417320"/>
            <a:ext cx="4233672" cy="4407408"/>
          </a:xfrm>
          <a:prstGeom prst="roundRect">
            <a:avLst>
              <a:gd name="adj" fmla="val 2160"/>
            </a:avLst>
          </a:prstGeom>
          <a:solidFill>
            <a:schemeClr val="tx1"/>
          </a:solidFill>
          <a:ln/>
        </p:spPr>
      </p:sp>
      <p:sp>
        <p:nvSpPr>
          <p:cNvPr id="34" name="text-313"/>
          <p:cNvSpPr txBox="1"/>
          <p:nvPr/>
        </p:nvSpPr>
        <p:spPr>
          <a:xfrm>
            <a:off x="76352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6"/>
                </a:solidFill>
              </a:rPr>
              <a:t>MASTER TEMPLATE JSON (EXCERPT)</a:t>
            </a:r>
            <a:endParaRPr lang="en-US" sz="1100" dirty="0"/>
          </a:p>
        </p:txBody>
      </p:sp>
      <p:sp>
        <p:nvSpPr>
          <p:cNvPr id="35" name="text-314"/>
          <p:cNvSpPr txBox="1"/>
          <p:nvPr/>
        </p:nvSpPr>
        <p:spPr>
          <a:xfrm>
            <a:off x="7635240" y="192024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"scene_id": "ground_armor_tanks_01",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"ground",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"sector": "AKHNOOR_STRATEGIC_SECTOR",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"detection_summary":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"total_target_count": 15,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"class_counts":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"BTR70": 7, "T72": 6, "BTR60":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"highest_threat_class": "T72",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"peak_rcs_db": 6.32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"tactical_sitrep":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"defcon_level": "DEFCON_2",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"threat_assessment":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"CRITICAL_ARMOR_CONCENTRATION"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6" name="text-315"/>
          <p:cNvSpPr txBox="1"/>
          <p:nvPr/>
        </p:nvSpPr>
        <p:spPr>
          <a:xfrm>
            <a:off x="7635240" y="5349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70 scenes · 733 targets cataloged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7: autonomous tactical query engine</a:t>
            </a:r>
            <a:endParaRPr lang="en-US" sz="3400" dirty="0"/>
          </a:p>
        </p:txBody>
      </p:sp>
      <p:sp>
        <p:nvSpPr>
          <p:cNvPr id="3" name="card-316"/>
          <p:cNvSpPr/>
          <p:nvPr/>
        </p:nvSpPr>
        <p:spPr>
          <a:xfrm>
            <a:off x="548640" y="1417320"/>
            <a:ext cx="544068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badge-317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C23B33"/>
          </a:solidFill>
          <a:ln/>
        </p:spPr>
      </p:sp>
      <p:pic>
        <p:nvPicPr>
          <p:cNvPr id="5" name="icon-318" descr="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14500"/>
            <a:ext cx="228600" cy="228600"/>
          </a:xfrm>
          <a:prstGeom prst="rect">
            <a:avLst/>
          </a:prstGeom>
        </p:spPr>
      </p:pic>
      <p:sp>
        <p:nvSpPr>
          <p:cNvPr id="6" name="text-319"/>
          <p:cNvSpPr txBox="1"/>
          <p:nvPr/>
        </p:nvSpPr>
        <p:spPr>
          <a:xfrm>
            <a:off x="1463040" y="1600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Static keyword search</a:t>
            </a:r>
            <a:endParaRPr lang="en-US" sz="1800" dirty="0"/>
          </a:p>
        </p:txBody>
      </p:sp>
      <p:sp>
        <p:nvSpPr>
          <p:cNvPr id="7" name="text-320"/>
          <p:cNvSpPr txBox="1"/>
          <p:nvPr/>
        </p:nvSpPr>
        <p:spPr>
          <a:xfrm>
            <a:off x="822960" y="219456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Regex rules such as “if tank in query” fail on “coordinates where NO military activity is detected” or “compare troop surge between baseline and current passes”.</a:t>
            </a:r>
            <a:endParaRPr lang="en-US" sz="1600" dirty="0"/>
          </a:p>
        </p:txBody>
      </p:sp>
      <p:sp>
        <p:nvSpPr>
          <p:cNvPr id="8" name="card-321"/>
          <p:cNvSpPr/>
          <p:nvPr/>
        </p:nvSpPr>
        <p:spPr>
          <a:xfrm>
            <a:off x="6199632" y="1417320"/>
            <a:ext cx="5440680" cy="2011680"/>
          </a:xfrm>
          <a:prstGeom prst="roundRect">
            <a:avLst>
              <a:gd name="adj" fmla="val 4545"/>
            </a:avLst>
          </a:prstGeom>
          <a:solidFill>
            <a:schemeClr val="tx1"/>
          </a:solidFill>
          <a:ln/>
        </p:spPr>
      </p:sp>
      <p:sp>
        <p:nvSpPr>
          <p:cNvPr id="9" name="badge-322"/>
          <p:cNvSpPr/>
          <p:nvPr/>
        </p:nvSpPr>
        <p:spPr>
          <a:xfrm>
            <a:off x="6473952" y="160020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pic>
        <p:nvPicPr>
          <p:cNvPr id="10" name="icon-323" descr="Brai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1714500"/>
            <a:ext cx="228600" cy="228600"/>
          </a:xfrm>
          <a:prstGeom prst="rect">
            <a:avLst/>
          </a:prstGeom>
        </p:spPr>
      </p:pic>
      <p:sp>
        <p:nvSpPr>
          <p:cNvPr id="11" name="text-324"/>
          <p:cNvSpPr txBox="1"/>
          <p:nvPr/>
        </p:nvSpPr>
        <p:spPr>
          <a:xfrm>
            <a:off x="7114032" y="1600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Gemini ReAct agent</a:t>
            </a:r>
            <a:endParaRPr lang="en-US" sz="1800" dirty="0"/>
          </a:p>
        </p:txBody>
      </p:sp>
      <p:sp>
        <p:nvSpPr>
          <p:cNvPr id="12" name="text-325"/>
          <p:cNvSpPr txBox="1"/>
          <p:nvPr/>
        </p:nvSpPr>
        <p:spPr>
          <a:xfrm>
            <a:off x="6473952" y="219456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Reasoning plus acting in an iterative loop: the agent picks tools, reads real data, and checks it against the commander’s intent.</a:t>
            </a:r>
            <a:endParaRPr lang="en-US" sz="1600" dirty="0"/>
          </a:p>
        </p:txBody>
      </p:sp>
      <p:sp>
        <p:nvSpPr>
          <p:cNvPr id="13" name="card-326"/>
          <p:cNvSpPr/>
          <p:nvPr/>
        </p:nvSpPr>
        <p:spPr>
          <a:xfrm>
            <a:off x="548640" y="365760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badge-327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15" name="text-328"/>
          <p:cNvSpPr txBox="1"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16" name="text-329"/>
          <p:cNvSpPr txBox="1"/>
          <p:nvPr/>
        </p:nvSpPr>
        <p:spPr>
          <a:xfrm>
            <a:off x="685800" y="4389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Goal formulation</a:t>
            </a:r>
            <a:endParaRPr lang="en-US" sz="1500" dirty="0"/>
          </a:p>
        </p:txBody>
      </p:sp>
      <p:sp>
        <p:nvSpPr>
          <p:cNvPr id="17" name="text-330"/>
          <p:cNvSpPr txBox="1"/>
          <p:nvPr/>
        </p:nvSpPr>
        <p:spPr>
          <a:xfrm>
            <a:off x="685800" y="4754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Decides what information the mission needs</a:t>
            </a:r>
            <a:endParaRPr lang="en-US" sz="1400" dirty="0"/>
          </a:p>
        </p:txBody>
      </p:sp>
      <p:sp>
        <p:nvSpPr>
          <p:cNvPr id="18" name="arrow-331"/>
          <p:cNvSpPr/>
          <p:nvPr/>
        </p:nvSpPr>
        <p:spPr>
          <a:xfrm>
            <a:off x="2569464" y="457200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9" name="card-332"/>
          <p:cNvSpPr/>
          <p:nvPr/>
        </p:nvSpPr>
        <p:spPr>
          <a:xfrm>
            <a:off x="2834640" y="365760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badge-333"/>
          <p:cNvSpPr/>
          <p:nvPr/>
        </p:nvSpPr>
        <p:spPr>
          <a:xfrm>
            <a:off x="2971800" y="379476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21" name="text-334"/>
          <p:cNvSpPr txBox="1"/>
          <p:nvPr/>
        </p:nvSpPr>
        <p:spPr>
          <a:xfrm>
            <a:off x="2971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22" name="text-335"/>
          <p:cNvSpPr txBox="1"/>
          <p:nvPr/>
        </p:nvSpPr>
        <p:spPr>
          <a:xfrm>
            <a:off x="2971800" y="4389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Action</a:t>
            </a:r>
            <a:endParaRPr lang="en-US" sz="1500" dirty="0"/>
          </a:p>
        </p:txBody>
      </p:sp>
      <p:sp>
        <p:nvSpPr>
          <p:cNvPr id="23" name="text-336"/>
          <p:cNvSpPr txBox="1"/>
          <p:nvPr/>
        </p:nvSpPr>
        <p:spPr>
          <a:xfrm>
            <a:off x="2971800" y="4754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Invokes a defense tool with structured parameters</a:t>
            </a:r>
            <a:endParaRPr lang="en-US" sz="1400" dirty="0"/>
          </a:p>
        </p:txBody>
      </p:sp>
      <p:sp>
        <p:nvSpPr>
          <p:cNvPr id="24" name="arrow-337"/>
          <p:cNvSpPr/>
          <p:nvPr/>
        </p:nvSpPr>
        <p:spPr>
          <a:xfrm>
            <a:off x="4855464" y="457200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5" name="card-338"/>
          <p:cNvSpPr/>
          <p:nvPr/>
        </p:nvSpPr>
        <p:spPr>
          <a:xfrm>
            <a:off x="5120640" y="365760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6" name="badge-339"/>
          <p:cNvSpPr/>
          <p:nvPr/>
        </p:nvSpPr>
        <p:spPr>
          <a:xfrm>
            <a:off x="5257800" y="379476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27" name="text-340"/>
          <p:cNvSpPr txBox="1"/>
          <p:nvPr/>
        </p:nvSpPr>
        <p:spPr>
          <a:xfrm>
            <a:off x="5257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28" name="text-341"/>
          <p:cNvSpPr txBox="1"/>
          <p:nvPr/>
        </p:nvSpPr>
        <p:spPr>
          <a:xfrm>
            <a:off x="5257800" y="4389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Observation</a:t>
            </a:r>
            <a:endParaRPr lang="en-US" sz="1500" dirty="0"/>
          </a:p>
        </p:txBody>
      </p:sp>
      <p:sp>
        <p:nvSpPr>
          <p:cNvPr id="29" name="text-342"/>
          <p:cNvSpPr txBox="1"/>
          <p:nvPr/>
        </p:nvSpPr>
        <p:spPr>
          <a:xfrm>
            <a:off x="5257800" y="4754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Receives real data from Master Templates and Qdrant</a:t>
            </a:r>
            <a:endParaRPr lang="en-US" sz="1400" dirty="0"/>
          </a:p>
        </p:txBody>
      </p:sp>
      <p:sp>
        <p:nvSpPr>
          <p:cNvPr id="30" name="arrow-343"/>
          <p:cNvSpPr/>
          <p:nvPr/>
        </p:nvSpPr>
        <p:spPr>
          <a:xfrm>
            <a:off x="7141464" y="457200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31" name="card-344"/>
          <p:cNvSpPr/>
          <p:nvPr/>
        </p:nvSpPr>
        <p:spPr>
          <a:xfrm>
            <a:off x="7406640" y="365760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2" name="badge-345"/>
          <p:cNvSpPr/>
          <p:nvPr/>
        </p:nvSpPr>
        <p:spPr>
          <a:xfrm>
            <a:off x="7543800" y="379476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33" name="text-346"/>
          <p:cNvSpPr txBox="1"/>
          <p:nvPr/>
        </p:nvSpPr>
        <p:spPr>
          <a:xfrm>
            <a:off x="7543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sp>
        <p:nvSpPr>
          <p:cNvPr id="34" name="text-347"/>
          <p:cNvSpPr txBox="1"/>
          <p:nvPr/>
        </p:nvSpPr>
        <p:spPr>
          <a:xfrm>
            <a:off x="7543800" y="4389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Reflection</a:t>
            </a:r>
            <a:endParaRPr lang="en-US" sz="1500" dirty="0"/>
          </a:p>
        </p:txBody>
      </p:sp>
      <p:sp>
        <p:nvSpPr>
          <p:cNvPr id="35" name="text-348"/>
          <p:cNvSpPr txBox="1"/>
          <p:nvPr/>
        </p:nvSpPr>
        <p:spPr>
          <a:xfrm>
            <a:off x="7543800" y="4754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Checks intent is met; if not, calls the next tool</a:t>
            </a:r>
            <a:endParaRPr lang="en-US" sz="1400" dirty="0"/>
          </a:p>
        </p:txBody>
      </p:sp>
      <p:sp>
        <p:nvSpPr>
          <p:cNvPr id="36" name="arrow-349"/>
          <p:cNvSpPr/>
          <p:nvPr/>
        </p:nvSpPr>
        <p:spPr>
          <a:xfrm>
            <a:off x="9427464" y="457200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37" name="card-350"/>
          <p:cNvSpPr/>
          <p:nvPr/>
        </p:nvSpPr>
        <p:spPr>
          <a:xfrm>
            <a:off x="9692640" y="365760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8" name="badge-351"/>
          <p:cNvSpPr/>
          <p:nvPr/>
        </p:nvSpPr>
        <p:spPr>
          <a:xfrm>
            <a:off x="9829800" y="3794760"/>
            <a:ext cx="457200" cy="457200"/>
          </a:xfrm>
          <a:prstGeom prst="ellipse">
            <a:avLst/>
          </a:prstGeom>
          <a:solidFill>
            <a:srgbClr val="0A8577"/>
          </a:solidFill>
          <a:ln/>
        </p:spPr>
      </p:sp>
      <p:sp>
        <p:nvSpPr>
          <p:cNvPr id="39" name="text-352"/>
          <p:cNvSpPr txBox="1"/>
          <p:nvPr/>
        </p:nvSpPr>
        <p:spPr>
          <a:xfrm>
            <a:off x="9829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5</a:t>
            </a:r>
            <a:endParaRPr lang="en-US" sz="1700" dirty="0"/>
          </a:p>
        </p:txBody>
      </p:sp>
      <p:sp>
        <p:nvSpPr>
          <p:cNvPr id="40" name="text-353"/>
          <p:cNvSpPr txBox="1"/>
          <p:nvPr/>
        </p:nvSpPr>
        <p:spPr>
          <a:xfrm>
            <a:off x="9829800" y="4389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Strict output</a:t>
            </a:r>
            <a:endParaRPr lang="en-US" sz="1500" dirty="0"/>
          </a:p>
        </p:txBody>
      </p:sp>
      <p:sp>
        <p:nvSpPr>
          <p:cNvPr id="41" name="text-354"/>
          <p:cNvSpPr txBox="1"/>
          <p:nvPr/>
        </p:nvSpPr>
        <p:spPr>
          <a:xfrm>
            <a:off x="9829800" y="4754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Delivers exactly the format requested, no clutter</a:t>
            </a:r>
            <a:endParaRPr lang="en-US" sz="1400" dirty="0"/>
          </a:p>
        </p:txBody>
      </p:sp>
      <p:sp>
        <p:nvSpPr>
          <p:cNvPr id="42" name="text-355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The loop repeats until the observation satisfies the commander’s intent.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Agent toolkit: 5 specialized defense tools</a:t>
            </a:r>
            <a:endParaRPr lang="en-US" sz="3400" dirty="0"/>
          </a:p>
        </p:txBody>
      </p:sp>
      <p:graphicFrame>
        <p:nvGraphicFramePr>
          <p:cNvPr id="13" name="table-tool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Tool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Key inputs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Returns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Operational use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tool_query_catalog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category, sector, target class, target range, min RCS, limit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Matching scene summaries from SQLite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Structured filters, e.g. zero-activity waters with max_targets=0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tool_semantic_search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query, category, top_k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Top-K scenes with cosine similarity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Natural-language search over 512-D Qdrant embeddings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tool_get_scene_telemetry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scene_id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Full 6-layer Master Template JSON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Deep dive: boxes, GPS bounds, RCS, image paths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tool_spatial_geo_query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min/max latitude, min/max longitude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Intersecting satellite passes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Bounding-box search of operational corridors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tool_analyze_temporal_pair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pair_number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Delta metrics, surge clusters, change map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T1 baseline vs T2 current differencing to spot armor buildup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Multi-step reasoning in action</a:t>
            </a:r>
            <a:endParaRPr lang="en-US" sz="3400" dirty="0"/>
          </a:p>
        </p:txBody>
      </p:sp>
      <p:sp>
        <p:nvSpPr>
          <p:cNvPr id="3" name="card-356"/>
          <p:cNvSpPr/>
          <p:nvPr/>
        </p:nvSpPr>
        <p:spPr>
          <a:xfrm>
            <a:off x="54864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4" name="text-357"/>
          <p:cNvSpPr txBox="1"/>
          <p:nvPr/>
        </p:nvSpPr>
        <p:spPr>
          <a:xfrm>
            <a:off x="82296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Scenario 1: pinpoint constraint</a:t>
            </a:r>
            <a:endParaRPr lang="en-US" sz="1800" dirty="0"/>
          </a:p>
        </p:txBody>
      </p:sp>
      <p:sp>
        <p:nvSpPr>
          <p:cNvPr id="5" name="card-358"/>
          <p:cNvSpPr/>
          <p:nvPr/>
        </p:nvSpPr>
        <p:spPr>
          <a:xfrm>
            <a:off x="822960" y="2057400"/>
            <a:ext cx="489204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</p:spPr>
      </p:sp>
      <p:sp>
        <p:nvSpPr>
          <p:cNvPr id="6" name="text-359"/>
          <p:cNvSpPr txBox="1"/>
          <p:nvPr/>
        </p:nvSpPr>
        <p:spPr>
          <a:xfrm>
            <a:off x="960120" y="20574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“Bhai mujhe aisi jagah ke coordinate doh jahan koi military activity na ho, aur sath me image path bhi doh, bas aur kuch nahi.”</a:t>
            </a:r>
            <a:endParaRPr lang="en-US" sz="1400" dirty="0"/>
          </a:p>
        </p:txBody>
      </p:sp>
      <p:sp>
        <p:nvSpPr>
          <p:cNvPr id="7" name="text-360"/>
          <p:cNvSpPr txBox="1"/>
          <p:nvPr/>
        </p:nvSpPr>
        <p:spPr>
          <a:xfrm>
            <a:off x="822960" y="3063240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THINK</a:t>
            </a:r>
            <a:endParaRPr lang="en-US" sz="1100" dirty="0"/>
          </a:p>
        </p:txBody>
      </p:sp>
      <p:sp>
        <p:nvSpPr>
          <p:cNvPr id="8" name="text-361"/>
          <p:cNvSpPr txBox="1"/>
          <p:nvPr/>
        </p:nvSpPr>
        <p:spPr>
          <a:xfrm>
            <a:off x="1783080" y="306324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Need a sector with 0 military targets; return only coordinates and image path.</a:t>
            </a:r>
            <a:endParaRPr lang="en-US" sz="1400" dirty="0"/>
          </a:p>
        </p:txBody>
      </p:sp>
      <p:sp>
        <p:nvSpPr>
          <p:cNvPr id="9" name="text-362"/>
          <p:cNvSpPr txBox="1"/>
          <p:nvPr/>
        </p:nvSpPr>
        <p:spPr>
          <a:xfrm>
            <a:off x="822960" y="3886200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ACT</a:t>
            </a:r>
            <a:endParaRPr lang="en-US" sz="1100" dirty="0"/>
          </a:p>
        </p:txBody>
      </p:sp>
      <p:sp>
        <p:nvSpPr>
          <p:cNvPr id="10" name="text-363"/>
          <p:cNvSpPr txBox="1"/>
          <p:nvPr/>
        </p:nvSpPr>
        <p:spPr>
          <a:xfrm>
            <a:off x="1783080" y="388620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tool_query_catalog(max_targets=0, limit=1)</a:t>
            </a:r>
            <a:endParaRPr lang="en-US" sz="1200" dirty="0"/>
          </a:p>
        </p:txBody>
      </p:sp>
      <p:sp>
        <p:nvSpPr>
          <p:cNvPr id="11" name="text-364"/>
          <p:cNvSpPr txBox="1"/>
          <p:nvPr/>
        </p:nvSpPr>
        <p:spPr>
          <a:xfrm>
            <a:off x="822960" y="4709160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OBSERVE</a:t>
            </a:r>
            <a:endParaRPr lang="en-US" sz="1100" dirty="0"/>
          </a:p>
        </p:txBody>
      </p:sp>
      <p:sp>
        <p:nvSpPr>
          <p:cNvPr id="12" name="text-365"/>
          <p:cNvSpPr txBox="1"/>
          <p:nvPr/>
        </p:nvSpPr>
        <p:spPr>
          <a:xfrm>
            <a:off x="1783080" y="470916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ocean_calm_waters_06: 0 targets, 24.125°N 67.245°E.</a:t>
            </a:r>
            <a:endParaRPr lang="en-US" sz="1400" dirty="0"/>
          </a:p>
        </p:txBody>
      </p:sp>
      <p:sp>
        <p:nvSpPr>
          <p:cNvPr id="13" name="text-366"/>
          <p:cNvSpPr txBox="1"/>
          <p:nvPr/>
        </p:nvSpPr>
        <p:spPr>
          <a:xfrm>
            <a:off x="822960" y="5532120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OUTPUT</a:t>
            </a:r>
            <a:endParaRPr lang="en-US" sz="1100" dirty="0"/>
          </a:p>
        </p:txBody>
      </p:sp>
      <p:sp>
        <p:nvSpPr>
          <p:cNvPr id="14" name="text-367"/>
          <p:cNvSpPr txBox="1"/>
          <p:nvPr/>
        </p:nvSpPr>
        <p:spPr>
          <a:xfrm>
            <a:off x="1783080" y="553212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Strict JSON: status, coordinates, bounds, image path. Nothing else.</a:t>
            </a:r>
            <a:endParaRPr lang="en-US" sz="1400" dirty="0"/>
          </a:p>
        </p:txBody>
      </p:sp>
      <p:sp>
        <p:nvSpPr>
          <p:cNvPr id="15" name="card-368"/>
          <p:cNvSpPr/>
          <p:nvPr/>
        </p:nvSpPr>
        <p:spPr>
          <a:xfrm>
            <a:off x="6199632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16" name="text-369"/>
          <p:cNvSpPr txBox="1"/>
          <p:nvPr/>
        </p:nvSpPr>
        <p:spPr>
          <a:xfrm>
            <a:off x="6473952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Scenario 2: multi-step gathering</a:t>
            </a:r>
            <a:endParaRPr lang="en-US" sz="1800" dirty="0"/>
          </a:p>
        </p:txBody>
      </p:sp>
      <p:sp>
        <p:nvSpPr>
          <p:cNvPr id="17" name="card-370"/>
          <p:cNvSpPr/>
          <p:nvPr/>
        </p:nvSpPr>
        <p:spPr>
          <a:xfrm>
            <a:off x="6473952" y="2057400"/>
            <a:ext cx="489204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</p:spPr>
      </p:sp>
      <p:sp>
        <p:nvSpPr>
          <p:cNvPr id="18" name="text-371"/>
          <p:cNvSpPr txBox="1"/>
          <p:nvPr/>
        </p:nvSpPr>
        <p:spPr>
          <a:xfrm>
            <a:off x="6611112" y="20574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“Akhnoor sector mein T-72 tanks ki formation dhundo, exact coordinates batao aur detection image dikhao.”</a:t>
            </a:r>
            <a:endParaRPr lang="en-US" sz="1400" dirty="0"/>
          </a:p>
        </p:txBody>
      </p:sp>
      <p:sp>
        <p:nvSpPr>
          <p:cNvPr id="19" name="text-372"/>
          <p:cNvSpPr txBox="1"/>
          <p:nvPr/>
        </p:nvSpPr>
        <p:spPr>
          <a:xfrm>
            <a:off x="6473952" y="30632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ACT 1</a:t>
            </a:r>
            <a:endParaRPr lang="en-US" sz="1100" dirty="0"/>
          </a:p>
        </p:txBody>
      </p:sp>
      <p:sp>
        <p:nvSpPr>
          <p:cNvPr id="20" name="text-373"/>
          <p:cNvSpPr txBox="1"/>
          <p:nvPr/>
        </p:nvSpPr>
        <p:spPr>
          <a:xfrm>
            <a:off x="7434072" y="30632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tool_query_catalog(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sector="AKHNOOR", target_class="T72")</a:t>
            </a:r>
            <a:endParaRPr lang="en-US" sz="1200" dirty="0"/>
          </a:p>
        </p:txBody>
      </p:sp>
      <p:sp>
        <p:nvSpPr>
          <p:cNvPr id="21" name="text-374"/>
          <p:cNvSpPr txBox="1"/>
          <p:nvPr/>
        </p:nvSpPr>
        <p:spPr>
          <a:xfrm>
            <a:off x="6473952" y="3739896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OBSERVE</a:t>
            </a:r>
            <a:endParaRPr lang="en-US" sz="1100" dirty="0"/>
          </a:p>
        </p:txBody>
      </p:sp>
      <p:sp>
        <p:nvSpPr>
          <p:cNvPr id="22" name="text-375"/>
          <p:cNvSpPr txBox="1"/>
          <p:nvPr/>
        </p:nvSpPr>
        <p:spPr>
          <a:xfrm>
            <a:off x="7434072" y="37398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ground_armor_tanks_01: 6 T-72 tanks, 7 BTR-70 APCs.</a:t>
            </a:r>
            <a:endParaRPr lang="en-US" sz="1400" dirty="0"/>
          </a:p>
        </p:txBody>
      </p:sp>
      <p:sp>
        <p:nvSpPr>
          <p:cNvPr id="23" name="text-376"/>
          <p:cNvSpPr txBox="1"/>
          <p:nvPr/>
        </p:nvSpPr>
        <p:spPr>
          <a:xfrm>
            <a:off x="6473952" y="4416552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ACT 2</a:t>
            </a:r>
            <a:endParaRPr lang="en-US" sz="1100" dirty="0"/>
          </a:p>
        </p:txBody>
      </p:sp>
      <p:sp>
        <p:nvSpPr>
          <p:cNvPr id="24" name="text-377"/>
          <p:cNvSpPr txBox="1"/>
          <p:nvPr/>
        </p:nvSpPr>
        <p:spPr>
          <a:xfrm>
            <a:off x="7434072" y="441655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tool_get_scene_telemetry(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scene_id="ground_armor_tanks_01")</a:t>
            </a:r>
            <a:endParaRPr lang="en-US" sz="1200" dirty="0"/>
          </a:p>
        </p:txBody>
      </p:sp>
      <p:sp>
        <p:nvSpPr>
          <p:cNvPr id="25" name="text-378"/>
          <p:cNvSpPr txBox="1"/>
          <p:nvPr/>
        </p:nvSpPr>
        <p:spPr>
          <a:xfrm>
            <a:off x="6473952" y="509320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OBSERVE</a:t>
            </a:r>
            <a:endParaRPr lang="en-US" sz="1100" dirty="0"/>
          </a:p>
        </p:txBody>
      </p:sp>
      <p:sp>
        <p:nvSpPr>
          <p:cNvPr id="26" name="text-379"/>
          <p:cNvSpPr txBox="1"/>
          <p:nvPr/>
        </p:nvSpPr>
        <p:spPr>
          <a:xfrm>
            <a:off x="7434072" y="509320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GPS center 32.8725, 74.3725 plus detection overlay path.</a:t>
            </a:r>
            <a:endParaRPr lang="en-US" sz="1400" dirty="0"/>
          </a:p>
        </p:txBody>
      </p:sp>
      <p:sp>
        <p:nvSpPr>
          <p:cNvPr id="27" name="text-380"/>
          <p:cNvSpPr txBox="1"/>
          <p:nvPr/>
        </p:nvSpPr>
        <p:spPr>
          <a:xfrm>
            <a:off x="6473952" y="5769864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OUTPUT</a:t>
            </a:r>
            <a:endParaRPr lang="en-US" sz="1100" dirty="0"/>
          </a:p>
        </p:txBody>
      </p:sp>
      <p:sp>
        <p:nvSpPr>
          <p:cNvPr id="28" name="text-381"/>
          <p:cNvSpPr txBox="1"/>
          <p:nvPr/>
        </p:nvSpPr>
        <p:spPr>
          <a:xfrm>
            <a:off x="7434072" y="57698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Tank count, GPS, DEFCON level, clickable visualization.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Benchmark performance and operational metrics</a:t>
            </a:r>
            <a:endParaRPr lang="en-US" sz="3400" dirty="0"/>
          </a:p>
        </p:txBody>
      </p:sp>
      <p:graphicFrame>
        <p:nvGraphicFramePr>
          <p:cNvPr id="15" name="table-benchmark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Achieved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Ingestion throughput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30 s for 70 tiles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14.22 s (~0.20 s/tile)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Exceeded (2.1× faster)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Ground ATR capacity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&gt; 10 M parameters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11.2 M params (42.71 MB)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Industry standard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Ground ATR accuracy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&gt; 90% on MSTAR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98.10% on 2,425 chips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Sovereign accuracy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Maritime detection speed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50 ms per scene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15.2 ms (YOLOv8 SAR)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Real-time ready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Heuristic fallback rules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0% if-else branches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0% if-else (100% neural)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Strictly enforced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Semantic embedding space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Native 1-channel radar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512-D SAR-ViT, no optical CLIP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Radar native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Catalog persistence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100% tiles cataloged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70/70 scenes, 733 targets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Verified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Query engine latency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2 s multi-step loop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~850 ms ReAct tool execution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Tactical operational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5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opus SAR">
  <a:themeElements>
    <a:clrScheme name="Canopus SAR">
      <a:dk1>
        <a:srgbClr val="0B1F2A"/>
      </a:dk1>
      <a:lt1>
        <a:srgbClr val="FFFFFF"/>
      </a:lt1>
      <a:dk2>
        <a:srgbClr val="12384A"/>
      </a:dk2>
      <a:lt2>
        <a:srgbClr val="E9F1F3"/>
      </a:lt2>
      <a:accent1>
        <a:srgbClr val="0A8577"/>
      </a:accent1>
      <a:accent2>
        <a:srgbClr val="F2A33A"/>
      </a:accent2>
      <a:accent3>
        <a:srgbClr val="1F5F7A"/>
      </a:accent3>
      <a:accent4>
        <a:srgbClr val="C23B33"/>
      </a:accent4>
      <a:accent5>
        <a:srgbClr val="6C8EA0"/>
      </a:accent5>
      <a:accent6>
        <a:srgbClr val="8FD3C4"/>
      </a:accent6>
      <a:hlink>
        <a:srgbClr val="0A8577"/>
      </a:hlink>
      <a:folHlink>
        <a:srgbClr val="6C8EA0"/>
      </a:folHlink>
    </a:clrScheme>
    <a:fontScheme name="Canopus S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Canopus SAR</vt:lpstr>
      <vt:lpstr>CANOPUS-SAR</vt:lpstr>
      <vt:lpstr>Why SAR: all-weather, 24/7 reconnaissance</vt:lpstr>
      <vt:lpstr>End-to-end system architecture</vt:lpstr>
      <vt:lpstr>Stage 1: raw radar telemetry intake</vt:lpstr>
      <vt:lpstr>Stage 2: calibrated 5-step radar preprocessing</vt:lpstr>
      <vt:lpstr>Stage 3: intelligent domain switching</vt:lpstr>
      <vt:lpstr>Stage 4: ground ATR with ResNet-18 on MSTAR</vt:lpstr>
      <vt:lpstr>Maritime detection and CFAR target isolation</vt:lpstr>
      <vt:lpstr>Stage 5: native radar encoder (SAR-ViT)</vt:lpstr>
      <vt:lpstr>Stage 6: the Defense Master Template</vt:lpstr>
      <vt:lpstr>Stage 7: autonomous tactical query engine</vt:lpstr>
      <vt:lpstr>Agent toolkit: 5 specialized defense tools</vt:lpstr>
      <vt:lpstr>Multi-step reasoning in action</vt:lpstr>
      <vt:lpstr>Benchmark performance and operational metrics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CANOPUS-SAR: SAR Tactical Pipeline and Query Engine</dc:title>
  <dc:subject>PptxGenJS Presentation</dc:subject>
  <dc:creator>PptxGenJS</dc:creator>
  <cp:lastModifiedBy>Nitya Bhavsar</cp:lastModifiedBy>
  <cp:revision>2</cp:revision>
  <dcterms:created xsi:type="dcterms:W3CDTF">2026-10-12T01:09:02Z</dcterms:created>
  <dcterms:modified xsi:type="dcterms:W3CDTF">2026-10-12T01:11:44Z</dcterms:modified>
</cp:coreProperties>
</file>