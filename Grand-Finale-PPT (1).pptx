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2" r:id="rId5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89D"/>
    <a:srgbClr val="E9819F"/>
    <a:srgbClr val="F1A1A3"/>
    <a:srgbClr val="DF8B91"/>
    <a:srgbClr val="FDB4B2"/>
    <a:srgbClr val="FF97BF"/>
    <a:srgbClr val="FC9AAC"/>
    <a:srgbClr val="FEB0AF"/>
    <a:srgbClr val="8F83C9"/>
    <a:srgbClr val="C3E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70000"/>
              </a:lnSpc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move the slide</a:t>
            </a: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46" name="PlaceHolder 4"/>
          <p:cNvSpPr>
            <a:spLocks noGrp="1"/>
          </p:cNvSpPr>
          <p:nvPr>
            <p:ph type="dt" idx="8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7" name="PlaceHolder 5"/>
          <p:cNvSpPr>
            <a:spLocks noGrp="1"/>
          </p:cNvSpPr>
          <p:nvPr>
            <p:ph type="ftr" idx="8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8" name="PlaceHolder 6"/>
          <p:cNvSpPr>
            <a:spLocks noGrp="1"/>
          </p:cNvSpPr>
          <p:nvPr>
            <p:ph type="sldNum" idx="8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58D138-31E8-4ED6-B1B4-1A9E6A925C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2FD172-E770-41AF-BF95-D2D521724D5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4AE370-0EA8-4AB7-A0AA-CEEB3659408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6ACF0C-19B9-4848-8710-BBCB10FE157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sp>
        <p:nvSpPr>
          <p:cNvPr id="3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0040" y="1033200"/>
            <a:ext cx="5891760" cy="389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80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80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 hasCustomPrompt="1"/>
          </p:nvPr>
        </p:nvSpPr>
        <p:spPr>
          <a:xfrm>
            <a:off x="6931080" y="793800"/>
            <a:ext cx="5260320" cy="60638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Trade Gothic Next Light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2"/>
          </p:nvPr>
        </p:nvSpPr>
        <p:spPr>
          <a:xfrm>
            <a:off x="6938640" y="208080"/>
            <a:ext cx="26625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E9D148-5651-4B41-B81D-90E2F5172637}" type="slidenum">
              <a: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929640" y="789480"/>
            <a:ext cx="360" cy="606888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cxnSp>
        <p:nvCxnSpPr>
          <p:cNvPr id="10" name="Straight Connector 9"/>
          <p:cNvCxnSpPr/>
          <p:nvPr/>
        </p:nvCxnSpPr>
        <p:spPr>
          <a:xfrm>
            <a:off x="0" y="5420160"/>
            <a:ext cx="693000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cxnSp>
        <p:nvCxnSpPr>
          <p:cNvPr id="11" name="Straight Connector 12"/>
          <p:cNvCxnSpPr/>
          <p:nvPr/>
        </p:nvCxnSpPr>
        <p:spPr>
          <a:xfrm>
            <a:off x="0" y="79164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3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30880" y="749880"/>
            <a:ext cx="6441840" cy="203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indent="0" algn="l" defTabSz="914400">
              <a:lnSpc>
                <a:spcPct val="70000"/>
              </a:lnSpc>
              <a:buNone/>
              <a:defRPr lang="en-US" sz="72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72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910040" cy="68576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4"/>
          </p:nvPr>
        </p:nvSpPr>
        <p:spPr>
          <a:xfrm>
            <a:off x="5330880" y="21348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5"/>
          </p:nvPr>
        </p:nvSpPr>
        <p:spPr>
          <a:xfrm>
            <a:off x="9609120" y="210240"/>
            <a:ext cx="16794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08110-4190-43C8-84B6-427B47877DBF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body"/>
          </p:nvPr>
        </p:nvSpPr>
        <p:spPr>
          <a:xfrm>
            <a:off x="5330880" y="2944440"/>
            <a:ext cx="6441840" cy="35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cxnSp>
        <p:nvCxnSpPr>
          <p:cNvPr id="20" name="Straight Connector 7"/>
          <p:cNvCxnSpPr/>
          <p:nvPr/>
        </p:nvCxnSpPr>
        <p:spPr>
          <a:xfrm>
            <a:off x="4910040" y="0"/>
            <a:ext cx="360" cy="6858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22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750200" y="612720"/>
            <a:ext cx="702216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342320" cy="68576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7"/>
          </p:nvPr>
        </p:nvSpPr>
        <p:spPr>
          <a:xfrm>
            <a:off x="4750200" y="210240"/>
            <a:ext cx="353124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8"/>
          </p:nvPr>
        </p:nvSpPr>
        <p:spPr>
          <a:xfrm>
            <a:off x="9582120" y="210240"/>
            <a:ext cx="167940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4BCCE6-246C-4664-8E01-089E26519C0A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body"/>
          </p:nvPr>
        </p:nvSpPr>
        <p:spPr>
          <a:xfrm>
            <a:off x="4750200" y="1746360"/>
            <a:ext cx="7022160" cy="480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cxnSp>
        <p:nvCxnSpPr>
          <p:cNvPr id="29" name="Straight Connector 7"/>
          <p:cNvCxnSpPr/>
          <p:nvPr/>
        </p:nvCxnSpPr>
        <p:spPr>
          <a:xfrm>
            <a:off x="4345560" y="0"/>
            <a:ext cx="360" cy="6858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31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0400" y="612720"/>
            <a:ext cx="701496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ftr" idx="10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1"/>
          </p:nvPr>
        </p:nvSpPr>
        <p:spPr>
          <a:xfrm>
            <a:off x="5225040" y="208080"/>
            <a:ext cx="168228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12"/>
          </p:nvPr>
        </p:nvSpPr>
        <p:spPr>
          <a:xfrm>
            <a:off x="678960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E9E7E9-AFA4-49B8-B32D-6A9FC0010EEF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7880" y="1746360"/>
            <a:ext cx="7017840" cy="480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 Gothic Next Ligh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body" hasCustomPrompt="1"/>
          </p:nvPr>
        </p:nvSpPr>
        <p:spPr>
          <a:xfrm>
            <a:off x="7773480" y="0"/>
            <a:ext cx="4416840" cy="68576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</a:p>
        </p:txBody>
      </p:sp>
      <p:cxnSp>
        <p:nvCxnSpPr>
          <p:cNvPr id="38" name="Straight Connector 7"/>
          <p:cNvCxnSpPr/>
          <p:nvPr/>
        </p:nvCxnSpPr>
        <p:spPr>
          <a:xfrm>
            <a:off x="7768800" y="0"/>
            <a:ext cx="360" cy="6858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40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7880" y="749880"/>
            <a:ext cx="577800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ftr" idx="13"/>
          </p:nvPr>
        </p:nvSpPr>
        <p:spPr>
          <a:xfrm>
            <a:off x="317880" y="21024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4"/>
          </p:nvPr>
        </p:nvSpPr>
        <p:spPr>
          <a:xfrm>
            <a:off x="3969000" y="210240"/>
            <a:ext cx="16794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15"/>
          </p:nvPr>
        </p:nvSpPr>
        <p:spPr>
          <a:xfrm>
            <a:off x="5614200" y="21024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39C4DD-3123-4C63-BCC9-A984A1660604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317880" y="1993320"/>
            <a:ext cx="5778000" cy="455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 Gothic Next Ligh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body" hasCustomPrompt="1"/>
          </p:nvPr>
        </p:nvSpPr>
        <p:spPr>
          <a:xfrm>
            <a:off x="6575400" y="0"/>
            <a:ext cx="5616360" cy="68576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</a:p>
        </p:txBody>
      </p:sp>
      <p:cxnSp>
        <p:nvCxnSpPr>
          <p:cNvPr id="47" name="Straight Connector 7"/>
          <p:cNvCxnSpPr/>
          <p:nvPr/>
        </p:nvCxnSpPr>
        <p:spPr>
          <a:xfrm>
            <a:off x="6570360" y="0"/>
            <a:ext cx="360" cy="685800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49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0400" y="749880"/>
            <a:ext cx="4123440" cy="15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ftr" idx="16"/>
          </p:nvPr>
        </p:nvSpPr>
        <p:spPr>
          <a:xfrm>
            <a:off x="317880" y="210240"/>
            <a:ext cx="225972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7"/>
          </p:nvPr>
        </p:nvSpPr>
        <p:spPr>
          <a:xfrm>
            <a:off x="3029400" y="210240"/>
            <a:ext cx="105768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18"/>
          </p:nvPr>
        </p:nvSpPr>
        <p:spPr>
          <a:xfrm>
            <a:off x="4010040" y="210240"/>
            <a:ext cx="44064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D41AD5-BDFE-4C26-9177-385B68B83A8D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329760" y="2578680"/>
            <a:ext cx="4130280" cy="371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 Gothic Next Ligh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55" name="PlaceHolder 6"/>
          <p:cNvSpPr>
            <a:spLocks noGrp="1"/>
          </p:cNvSpPr>
          <p:nvPr>
            <p:ph type="body" hasCustomPrompt="1"/>
          </p:nvPr>
        </p:nvSpPr>
        <p:spPr>
          <a:xfrm>
            <a:off x="4912560" y="0"/>
            <a:ext cx="7278840" cy="68576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</a:p>
        </p:txBody>
      </p:sp>
      <p:cxnSp>
        <p:nvCxnSpPr>
          <p:cNvPr id="56" name="Straight Connector 7"/>
          <p:cNvCxnSpPr/>
          <p:nvPr/>
        </p:nvCxnSpPr>
        <p:spPr>
          <a:xfrm>
            <a:off x="4907880" y="0"/>
            <a:ext cx="360" cy="6858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58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20400" y="749880"/>
            <a:ext cx="11514240" cy="95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indent="0" algn="l" defTabSz="914400">
              <a:lnSpc>
                <a:spcPct val="70000"/>
              </a:lnSpc>
              <a:buNone/>
              <a:defRPr lang="en-US" sz="72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72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ftr" idx="19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0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21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864323-C8E4-4D24-B257-74D810CAB959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317880" y="2180520"/>
            <a:ext cx="5011920" cy="428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 Gothic Next Ligh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body" hasCustomPrompt="1"/>
          </p:nvPr>
        </p:nvSpPr>
        <p:spPr>
          <a:xfrm>
            <a:off x="5822640" y="1834560"/>
            <a:ext cx="6378480" cy="502308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</a:p>
        </p:txBody>
      </p:sp>
      <p:cxnSp>
        <p:nvCxnSpPr>
          <p:cNvPr id="65" name="Straight Connector 7"/>
          <p:cNvCxnSpPr/>
          <p:nvPr/>
        </p:nvCxnSpPr>
        <p:spPr>
          <a:xfrm>
            <a:off x="5816160" y="1827000"/>
            <a:ext cx="360" cy="504108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cxnSp>
        <p:nvCxnSpPr>
          <p:cNvPr id="66" name="Straight Connector 10"/>
          <p:cNvCxnSpPr/>
          <p:nvPr/>
        </p:nvCxnSpPr>
        <p:spPr>
          <a:xfrm>
            <a:off x="0" y="1827000"/>
            <a:ext cx="1219212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68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20400" y="5166360"/>
            <a:ext cx="3656160" cy="12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12197880" cy="483696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99080" y="5166360"/>
            <a:ext cx="7073280" cy="12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marL="4572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marL="9144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marL="13716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marL="1828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4572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9144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3716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1828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ftr" idx="22"/>
          </p:nvPr>
        </p:nvSpPr>
        <p:spPr>
          <a:xfrm>
            <a:off x="317880" y="6437520"/>
            <a:ext cx="2962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dt" idx="23"/>
          </p:nvPr>
        </p:nvSpPr>
        <p:spPr>
          <a:xfrm>
            <a:off x="4699080" y="6437160"/>
            <a:ext cx="4548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4"/>
          </p:nvPr>
        </p:nvSpPr>
        <p:spPr>
          <a:xfrm>
            <a:off x="11288880" y="643752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0B69A5-C15E-48B8-888D-4F4385852C91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5" name="Straight Connector 8"/>
          <p:cNvCxnSpPr/>
          <p:nvPr/>
        </p:nvCxnSpPr>
        <p:spPr>
          <a:xfrm>
            <a:off x="4283280" y="4836960"/>
            <a:ext cx="360" cy="202140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cxnSp>
        <p:nvCxnSpPr>
          <p:cNvPr id="76" name="Straight Connector 10"/>
          <p:cNvCxnSpPr/>
          <p:nvPr/>
        </p:nvCxnSpPr>
        <p:spPr>
          <a:xfrm>
            <a:off x="-1080" y="4842000"/>
            <a:ext cx="1219320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78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20400" y="762120"/>
            <a:ext cx="6612480" cy="155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indent="0" algn="l" defTabSz="914400">
              <a:lnSpc>
                <a:spcPct val="70000"/>
              </a:lnSpc>
              <a:buNone/>
              <a:defRPr lang="en-US" sz="6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6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ftr" idx="25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26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7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403C92-873E-4F67-B631-10DECE3BAA32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 hasCustomPrompt="1"/>
          </p:nvPr>
        </p:nvSpPr>
        <p:spPr>
          <a:xfrm>
            <a:off x="-6480" y="2436120"/>
            <a:ext cx="7283520" cy="442152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7680240" y="762120"/>
            <a:ext cx="4092480" cy="579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cxnSp>
        <p:nvCxnSpPr>
          <p:cNvPr id="85" name="Straight Connector 6"/>
          <p:cNvCxnSpPr/>
          <p:nvPr/>
        </p:nvCxnSpPr>
        <p:spPr>
          <a:xfrm>
            <a:off x="0" y="2435760"/>
            <a:ext cx="727740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cxnSp>
        <p:nvCxnSpPr>
          <p:cNvPr id="86" name="Straight Connector 12"/>
          <p:cNvCxnSpPr/>
          <p:nvPr/>
        </p:nvCxnSpPr>
        <p:spPr>
          <a:xfrm>
            <a:off x="7277040" y="0"/>
            <a:ext cx="360" cy="685800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88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20400" y="448200"/>
            <a:ext cx="11514240" cy="112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ftr" idx="28"/>
          </p:nvPr>
        </p:nvSpPr>
        <p:spPr>
          <a:xfrm>
            <a:off x="317880" y="21348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29"/>
          </p:nvPr>
        </p:nvSpPr>
        <p:spPr>
          <a:xfrm>
            <a:off x="7569000" y="210240"/>
            <a:ext cx="16794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30"/>
          </p:nvPr>
        </p:nvSpPr>
        <p:spPr>
          <a:xfrm>
            <a:off x="11288880" y="208080"/>
            <a:ext cx="54612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06600-E30F-421E-9FE6-7B9985AD669F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 hasCustomPrompt="1"/>
          </p:nvPr>
        </p:nvSpPr>
        <p:spPr>
          <a:xfrm>
            <a:off x="-3600" y="1700640"/>
            <a:ext cx="3317760" cy="515700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body"/>
          </p:nvPr>
        </p:nvSpPr>
        <p:spPr>
          <a:xfrm>
            <a:off x="3801600" y="2130480"/>
            <a:ext cx="7971120" cy="44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cxnSp>
        <p:nvCxnSpPr>
          <p:cNvPr id="95" name="Straight Connector 6"/>
          <p:cNvCxnSpPr/>
          <p:nvPr/>
        </p:nvCxnSpPr>
        <p:spPr>
          <a:xfrm>
            <a:off x="0" y="1695240"/>
            <a:ext cx="1219212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96" name="Straight Connector 8"/>
          <p:cNvCxnSpPr/>
          <p:nvPr/>
        </p:nvCxnSpPr>
        <p:spPr>
          <a:xfrm>
            <a:off x="3318120" y="1695240"/>
            <a:ext cx="360" cy="516312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98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571160" y="1188720"/>
            <a:ext cx="4068720" cy="448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10000"/>
              </a:lnSpc>
              <a:buNone/>
              <a:defRPr lang="en-US" sz="2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title style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body" hasCustomPrompt="1"/>
          </p:nvPr>
        </p:nvSpPr>
        <p:spPr>
          <a:xfrm>
            <a:off x="448200" y="1609200"/>
            <a:ext cx="677520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33400" b="0" u="none" strike="noStrike">
                <a:solidFill>
                  <a:schemeClr val="accent1"/>
                </a:solidFill>
                <a:effectLst/>
                <a:uFillTx/>
                <a:latin typeface="Haettenschweiler"/>
              </a:defRPr>
            </a:lvl1pPr>
          </a:lstStyle>
          <a:p>
            <a:pPr indent="0" algn="r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3400" b="0" u="none" strike="noStrike">
                <a:solidFill>
                  <a:schemeClr val="accent1"/>
                </a:solidFill>
                <a:effectLst/>
                <a:uFillTx/>
                <a:latin typeface="Haettenschweiler"/>
              </a:rPr>
              <a:t>#%</a:t>
            </a:r>
          </a:p>
        </p:txBody>
      </p:sp>
      <p:sp>
        <p:nvSpPr>
          <p:cNvPr id="101" name="PlaceHolder 3"/>
          <p:cNvSpPr>
            <a:spLocks noGrp="1"/>
          </p:cNvSpPr>
          <p:nvPr>
            <p:ph type="ftr" idx="31"/>
          </p:nvPr>
        </p:nvSpPr>
        <p:spPr>
          <a:xfrm>
            <a:off x="317880" y="21024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32"/>
          </p:nvPr>
        </p:nvSpPr>
        <p:spPr>
          <a:xfrm>
            <a:off x="7569000" y="210240"/>
            <a:ext cx="16794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33"/>
          </p:nvPr>
        </p:nvSpPr>
        <p:spPr>
          <a:xfrm>
            <a:off x="11288880" y="210240"/>
            <a:ext cx="54612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34FCB8-28BD-4474-8DE7-38B1D8064E1A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0" y="606924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7" hidden="1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320400" y="2139840"/>
            <a:ext cx="11253240" cy="428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34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dt" idx="35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36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704AB-880B-44A8-B41E-484234E36BFE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tem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13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 hasCustomPrompt="1"/>
          </p:nvPr>
        </p:nvSpPr>
        <p:spPr>
          <a:xfrm>
            <a:off x="317880" y="914400"/>
            <a:ext cx="10045080" cy="446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75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8800" b="0" u="none" strike="noStrike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8000" b="0" u="none" strike="noStrike">
                <a:solidFill>
                  <a:schemeClr val="dk2"/>
                </a:solidFill>
                <a:effectLst/>
                <a:uFillTx/>
                <a:latin typeface="Haettenschweiler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7200" b="0" u="none" strike="noStrike">
                <a:solidFill>
                  <a:schemeClr val="dk2"/>
                </a:solidFill>
                <a:effectLst/>
                <a:uFillTx/>
                <a:latin typeface="Haettenschweiler"/>
              </a:defRPr>
            </a:lvl3pPr>
            <a:lvl4pPr marL="6858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600" b="0" u="none" strike="noStrike">
                <a:solidFill>
                  <a:schemeClr val="dk2"/>
                </a:solidFill>
                <a:effectLst/>
                <a:uFillTx/>
                <a:latin typeface="Haettenschweiler"/>
              </a:defRPr>
            </a:lvl4pPr>
            <a:lvl5pPr marL="9144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000" b="0" u="none" strike="noStrike">
                <a:solidFill>
                  <a:schemeClr val="dk2"/>
                </a:solidFill>
                <a:effectLst/>
                <a:uFillTx/>
                <a:latin typeface="Haettenschweiler"/>
              </a:defRPr>
            </a:lvl5pPr>
          </a:lstStyle>
          <a:p>
            <a:pPr indent="0" algn="l" defTabSz="914400">
              <a:lnSpc>
                <a:spcPct val="7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8800" b="0" u="none" strike="noStrike">
                <a:solidFill>
                  <a:schemeClr val="dk2"/>
                </a:solidFill>
                <a:effectLst/>
                <a:uFillTx/>
                <a:latin typeface="Haettenschweiler"/>
              </a:rPr>
              <a:t>Click to edit Statement</a:t>
            </a: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8000" b="0" u="none" strike="noStrike">
                <a:solidFill>
                  <a:schemeClr val="dk2"/>
                </a:solidFill>
                <a:effectLst/>
                <a:uFillTx/>
                <a:latin typeface="Haettenschweiler"/>
              </a:rPr>
              <a:t>Second level</a:t>
            </a: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chemeClr val="dk2"/>
                </a:solidFill>
                <a:effectLst/>
                <a:uFillTx/>
                <a:latin typeface="Haettenschweiler"/>
              </a:rPr>
              <a:t>Third level</a:t>
            </a:r>
          </a:p>
          <a:p>
            <a:pPr marL="6858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chemeClr val="dk2"/>
                </a:solidFill>
                <a:effectLst/>
                <a:uFillTx/>
                <a:latin typeface="Haettenschweiler"/>
              </a:rPr>
              <a:t>Fourth level</a:t>
            </a:r>
          </a:p>
          <a:p>
            <a:pPr marL="9144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Haettenschweiler"/>
              </a:rPr>
              <a:t>Fifth level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ftr" idx="37"/>
          </p:nvPr>
        </p:nvSpPr>
        <p:spPr>
          <a:xfrm>
            <a:off x="317880" y="626364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38"/>
          </p:nvPr>
        </p:nvSpPr>
        <p:spPr>
          <a:xfrm>
            <a:off x="7680240" y="626364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sldNum" idx="39"/>
          </p:nvPr>
        </p:nvSpPr>
        <p:spPr>
          <a:xfrm>
            <a:off x="11288880" y="626364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833399-046B-491D-AAC5-89B1F438838A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19" name="Straight Connector 5"/>
          <p:cNvCxnSpPr/>
          <p:nvPr/>
        </p:nvCxnSpPr>
        <p:spPr>
          <a:xfrm>
            <a:off x="0" y="605772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sp>
        <p:nvSpPr>
          <p:cNvPr id="121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440320"/>
            <a:ext cx="9299160" cy="101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20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Quote Author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body" hasCustomPrompt="1"/>
          </p:nvPr>
        </p:nvSpPr>
        <p:spPr>
          <a:xfrm>
            <a:off x="320040" y="1170720"/>
            <a:ext cx="9692280" cy="387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74320" indent="-27432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8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defRPr>
            </a:lvl1pPr>
          </a:lstStyle>
          <a:p>
            <a:pPr marL="274320" indent="-27432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8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rPr>
              <a:t>Click to edit quote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ftr" idx="40"/>
          </p:nvPr>
        </p:nvSpPr>
        <p:spPr>
          <a:xfrm>
            <a:off x="317880" y="21024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41"/>
          </p:nvPr>
        </p:nvSpPr>
        <p:spPr>
          <a:xfrm>
            <a:off x="7569000" y="210240"/>
            <a:ext cx="244332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42"/>
          </p:nvPr>
        </p:nvSpPr>
        <p:spPr>
          <a:xfrm>
            <a:off x="11288880" y="210240"/>
            <a:ext cx="54612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40289F-0872-4F27-86DB-BE703D9A3315}" type="slidenum">
              <a: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27" name="Straight Connector 8"/>
          <p:cNvCxnSpPr/>
          <p:nvPr/>
        </p:nvCxnSpPr>
        <p:spPr>
          <a:xfrm flipH="1">
            <a:off x="0" y="78696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cxnSp>
        <p:nvCxnSpPr>
          <p:cNvPr id="128" name="Straight Connector 9"/>
          <p:cNvCxnSpPr/>
          <p:nvPr/>
        </p:nvCxnSpPr>
        <p:spPr>
          <a:xfrm>
            <a:off x="0" y="527436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30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20400" y="685800"/>
            <a:ext cx="11253240" cy="66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32" name="PlaceHolder 2"/>
          <p:cNvSpPr>
            <a:spLocks noGrp="1"/>
          </p:cNvSpPr>
          <p:nvPr>
            <p:ph type="ftr" idx="43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44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45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99544-87C0-4666-A9BB-F58D7EAA4153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317880" y="1773720"/>
            <a:ext cx="5348880" cy="445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136" name="PlaceHolder 6"/>
          <p:cNvSpPr>
            <a:spLocks noGrp="1"/>
          </p:cNvSpPr>
          <p:nvPr>
            <p:ph type="body"/>
          </p:nvPr>
        </p:nvSpPr>
        <p:spPr>
          <a:xfrm>
            <a:off x="6225120" y="1773720"/>
            <a:ext cx="5348880" cy="445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39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17880" y="685800"/>
            <a:ext cx="112557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41" name="PlaceHolder 2"/>
          <p:cNvSpPr>
            <a:spLocks noGrp="1"/>
          </p:cNvSpPr>
          <p:nvPr>
            <p:ph type="ftr" idx="46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dt" idx="47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sldNum" idx="48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8D5181-D7B6-4EED-B981-D92CAC8B613A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317880" y="1773720"/>
            <a:ext cx="5348880" cy="58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body"/>
          </p:nvPr>
        </p:nvSpPr>
        <p:spPr>
          <a:xfrm>
            <a:off x="317880" y="2368440"/>
            <a:ext cx="5348880" cy="385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146" name="PlaceHolder 7"/>
          <p:cNvSpPr>
            <a:spLocks noGrp="1"/>
          </p:cNvSpPr>
          <p:nvPr>
            <p:ph type="body"/>
          </p:nvPr>
        </p:nvSpPr>
        <p:spPr>
          <a:xfrm>
            <a:off x="6224760" y="1773720"/>
            <a:ext cx="5348880" cy="58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147" name="PlaceHolder 8"/>
          <p:cNvSpPr>
            <a:spLocks noGrp="1"/>
          </p:cNvSpPr>
          <p:nvPr>
            <p:ph type="body"/>
          </p:nvPr>
        </p:nvSpPr>
        <p:spPr>
          <a:xfrm>
            <a:off x="6224760" y="2368440"/>
            <a:ext cx="5348880" cy="385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cxnSp>
        <p:nvCxnSpPr>
          <p:cNvPr id="148" name="Straight Connector 9"/>
          <p:cNvCxnSpPr/>
          <p:nvPr/>
        </p:nvCxnSpPr>
        <p:spPr>
          <a:xfrm>
            <a:off x="0" y="144252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50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20400" y="935640"/>
            <a:ext cx="11253240" cy="66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52" name="PlaceHolder 2"/>
          <p:cNvSpPr>
            <a:spLocks noGrp="1"/>
          </p:cNvSpPr>
          <p:nvPr>
            <p:ph type="ftr" idx="49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dt" idx="50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51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F8595-6680-48DE-B758-EC333BA4EDB7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7" hidden="1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dt" idx="52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53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E877A-04B8-4C8F-B8E3-83C826B8A42C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title"/>
          </p:nvPr>
        </p:nvSpPr>
        <p:spPr>
          <a:xfrm>
            <a:off x="320400" y="935640"/>
            <a:ext cx="11253240" cy="66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Trade Gothic Next Light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sp>
        <p:nvSpPr>
          <p:cNvPr id="162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Straight Connector 7"/>
          <p:cNvCxnSpPr/>
          <p:nvPr/>
        </p:nvCxnSpPr>
        <p:spPr>
          <a:xfrm>
            <a:off x="0" y="2118240"/>
            <a:ext cx="12192120" cy="360"/>
          </a:xfrm>
          <a:prstGeom prst="straightConnector1">
            <a:avLst/>
          </a:prstGeom>
          <a:ln w="9525">
            <a:solidFill>
              <a:srgbClr val="FFFFFF">
                <a:lumMod val="85000"/>
              </a:srgbClr>
            </a:solidFill>
          </a:ln>
        </p:spPr>
      </p:cxn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20400" y="831960"/>
            <a:ext cx="1125324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0000" lnSpcReduction="19999"/>
          </a:bodyPr>
          <a:lstStyle>
            <a:lvl1pPr indent="0" algn="l" defTabSz="914400">
              <a:lnSpc>
                <a:spcPct val="70000"/>
              </a:lnSpc>
              <a:buNone/>
              <a:defRPr lang="en-US" sz="8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8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ftr" idx="54"/>
          </p:nvPr>
        </p:nvSpPr>
        <p:spPr>
          <a:xfrm>
            <a:off x="317880" y="626364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55"/>
          </p:nvPr>
        </p:nvSpPr>
        <p:spPr>
          <a:xfrm>
            <a:off x="7569000" y="6263640"/>
            <a:ext cx="19332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sldNum" idx="56"/>
          </p:nvPr>
        </p:nvSpPr>
        <p:spPr>
          <a:xfrm>
            <a:off x="11288880" y="626364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39DAAD-7710-48DC-AC65-F1AD40045F6F}" type="slidenum">
              <a: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320400" y="3429000"/>
            <a:ext cx="1125324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F7F6F3"/>
              </a:buClr>
              <a:buFont typeface="Arial"/>
              <a:buChar char="•"/>
              <a:defRPr lang="en-US" sz="18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  <a:defRPr lang="en-US" sz="16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  <a:def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  <a:def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  <a:def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F7F6F3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F7F6F3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sp>
        <p:nvSpPr>
          <p:cNvPr id="170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20400" y="1270440"/>
            <a:ext cx="7929720" cy="20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19999"/>
          </a:bodyPr>
          <a:lstStyle>
            <a:lvl1pPr indent="0" algn="l" defTabSz="914400">
              <a:lnSpc>
                <a:spcPct val="70000"/>
              </a:lnSpc>
              <a:buNone/>
              <a:defRPr lang="en-US" sz="8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8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317880" y="3794760"/>
            <a:ext cx="7932240" cy="15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  <a:lvl2pPr marL="4572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2pPr>
            <a:lvl3pPr marL="9144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3pPr>
            <a:lvl4pPr marL="13716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4pPr>
            <a:lvl5pPr marL="1828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defRPr>
            </a:lvl5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4572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9144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3716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1828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173" name="PlaceHolder 3"/>
          <p:cNvSpPr>
            <a:spLocks noGrp="1"/>
          </p:cNvSpPr>
          <p:nvPr>
            <p:ph type="ftr" idx="57"/>
          </p:nvPr>
        </p:nvSpPr>
        <p:spPr>
          <a:xfrm>
            <a:off x="317880" y="21348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dt" idx="58"/>
          </p:nvPr>
        </p:nvSpPr>
        <p:spPr>
          <a:xfrm>
            <a:off x="7569000" y="210240"/>
            <a:ext cx="16794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sldNum" idx="59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8D01BB-0554-4AA1-A6CE-ADB5601404A5}" type="slidenum">
              <a: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6" name="Straight Connector 6"/>
          <p:cNvCxnSpPr/>
          <p:nvPr/>
        </p:nvCxnSpPr>
        <p:spPr>
          <a:xfrm>
            <a:off x="0" y="343476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78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70000"/>
              </a:lnSpc>
              <a:buNone/>
              <a:def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0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dt" idx="60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ftr" idx="61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sldNum" idx="62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CF80E-ABDA-4F9F-B83C-93BEEC793C0B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184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20040" y="5223600"/>
            <a:ext cx="114296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44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44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12191760" cy="506916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ftr" idx="63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dt" idx="64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65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B0534F-B2D6-4FD3-8760-30A63920948D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90" name="Straight Connector 6"/>
          <p:cNvCxnSpPr/>
          <p:nvPr/>
        </p:nvCxnSpPr>
        <p:spPr>
          <a:xfrm>
            <a:off x="0" y="5068080"/>
            <a:ext cx="1218924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sp>
        <p:nvSpPr>
          <p:cNvPr id="192" name="TextBox 7" hidden="1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320040" y="758880"/>
            <a:ext cx="7589160" cy="408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indent="0" algn="l" defTabSz="914400">
              <a:lnSpc>
                <a:spcPct val="70000"/>
              </a:lnSpc>
              <a:buNone/>
              <a:defRPr lang="en-US" sz="96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96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194" name="PlaceHolder 2"/>
          <p:cNvSpPr>
            <a:spLocks noGrp="1"/>
          </p:cNvSpPr>
          <p:nvPr>
            <p:ph type="ftr" idx="66"/>
          </p:nvPr>
        </p:nvSpPr>
        <p:spPr>
          <a:xfrm>
            <a:off x="317880" y="625464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67"/>
          </p:nvPr>
        </p:nvSpPr>
        <p:spPr>
          <a:xfrm>
            <a:off x="7921800" y="6254640"/>
            <a:ext cx="167940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sldNum" idx="68"/>
          </p:nvPr>
        </p:nvSpPr>
        <p:spPr>
          <a:xfrm>
            <a:off x="11288880" y="625464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1857CE-DF48-4499-848C-7BA2E0C870B2}" type="slidenum">
              <a: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97" name="Straight Connector 7"/>
          <p:cNvCxnSpPr/>
          <p:nvPr/>
        </p:nvCxnSpPr>
        <p:spPr>
          <a:xfrm>
            <a:off x="0" y="605772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cxnSp>
        <p:nvCxnSpPr>
          <p:cNvPr id="198" name="Straight Connector 8"/>
          <p:cNvCxnSpPr/>
          <p:nvPr/>
        </p:nvCxnSpPr>
        <p:spPr>
          <a:xfrm>
            <a:off x="0" y="527472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  <p:sp>
        <p:nvSpPr>
          <p:cNvPr id="200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4080" y="1435680"/>
            <a:ext cx="11594160" cy="555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lstStyle>
            <a:lvl1pPr indent="0" algn="l" defTabSz="914400">
              <a:lnSpc>
                <a:spcPct val="67000"/>
              </a:lnSpc>
              <a:buNone/>
              <a:defRPr lang="en-US" sz="14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67000"/>
              </a:lnSpc>
              <a:buNone/>
            </a:pPr>
            <a:r>
              <a:rPr lang="en-US" sz="14800" b="0" u="none" strike="noStrike" cap="all">
                <a:solidFill>
                  <a:schemeClr val="lt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202" name="PlaceHolder 2"/>
          <p:cNvSpPr>
            <a:spLocks noGrp="1"/>
          </p:cNvSpPr>
          <p:nvPr>
            <p:ph type="ftr" idx="69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70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lt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sldNum" idx="71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583408-6389-4CD4-A48A-CBA9A0C16FC4}" type="slidenum">
              <a:rPr lang="en-US" sz="850" b="1" u="none" strike="noStrike" cap="all">
                <a:solidFill>
                  <a:schemeClr val="lt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05" name="Straight Connector 7"/>
          <p:cNvCxnSpPr/>
          <p:nvPr/>
        </p:nvCxnSpPr>
        <p:spPr>
          <a:xfrm>
            <a:off x="0" y="783720"/>
            <a:ext cx="12192120" cy="360"/>
          </a:xfrm>
          <a:prstGeom prst="straightConnector1">
            <a:avLst/>
          </a:prstGeom>
          <a:ln w="9525">
            <a:solidFill>
              <a:srgbClr val="F7F6F3"/>
            </a:solidFill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207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20400" y="887040"/>
            <a:ext cx="11404800" cy="117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0000" lnSpcReduction="19999"/>
          </a:bodyPr>
          <a:lstStyle>
            <a:lvl1pPr indent="0" algn="l" defTabSz="914400">
              <a:lnSpc>
                <a:spcPct val="70000"/>
              </a:lnSpc>
              <a:buNone/>
              <a:defRPr lang="en-US" sz="8800" b="0" u="none" strike="noStrike" cap="all">
                <a:solidFill>
                  <a:schemeClr val="accent1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8800" b="0" u="none" strike="noStrike" cap="all">
                <a:solidFill>
                  <a:schemeClr val="accent1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209" name="PlaceHolder 2"/>
          <p:cNvSpPr>
            <a:spLocks noGrp="1"/>
          </p:cNvSpPr>
          <p:nvPr>
            <p:ph type="ftr" idx="72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4764960" y="2832480"/>
            <a:ext cx="6893280" cy="350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Haettenschweiler"/>
              <a:buAutoNum type="arabicPeriod"/>
              <a:defRPr lang="en-US" sz="20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Haettenschweiler"/>
              <a:buAutoNum type="arabicPeriod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800280" lvl="1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257480" lvl="2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714680" lvl="3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171880" lvl="4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211" name="PlaceHolder 4"/>
          <p:cNvSpPr>
            <a:spLocks noGrp="1"/>
          </p:cNvSpPr>
          <p:nvPr>
            <p:ph type="dt" idx="73"/>
          </p:nvPr>
        </p:nvSpPr>
        <p:spPr>
          <a:xfrm>
            <a:off x="768024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sldNum" idx="74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15B58C-7B22-4770-9C20-909320291EEA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13" name="Straight Connector 8"/>
          <p:cNvCxnSpPr/>
          <p:nvPr/>
        </p:nvCxnSpPr>
        <p:spPr>
          <a:xfrm>
            <a:off x="0" y="2118240"/>
            <a:ext cx="12192120" cy="360"/>
          </a:xfrm>
          <a:prstGeom prst="straightConnector1">
            <a:avLst/>
          </a:prstGeom>
          <a:ln w="9525">
            <a:solidFill>
              <a:srgbClr val="C8350F"/>
            </a:solidFill>
          </a:ln>
        </p:spPr>
      </p:cxnSp>
      <p:cxnSp>
        <p:nvCxnSpPr>
          <p:cNvPr id="214" name="Straight Connector 9"/>
          <p:cNvCxnSpPr/>
          <p:nvPr/>
        </p:nvCxnSpPr>
        <p:spPr>
          <a:xfrm>
            <a:off x="0" y="799920"/>
            <a:ext cx="12192120" cy="360"/>
          </a:xfrm>
          <a:prstGeom prst="straightConnector1">
            <a:avLst/>
          </a:prstGeom>
          <a:ln w="9525">
            <a:solidFill>
              <a:srgbClr val="C8350F"/>
            </a:solidFill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216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266800" y="521280"/>
            <a:ext cx="6647400" cy="186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19999"/>
          </a:bodyPr>
          <a:lstStyle>
            <a:lvl1pPr indent="0" algn="l" defTabSz="914400">
              <a:lnSpc>
                <a:spcPct val="70000"/>
              </a:lnSpc>
              <a:buNone/>
              <a:defRPr lang="en-US" sz="8000" b="0" u="none" strike="noStrike" cap="all">
                <a:solidFill>
                  <a:schemeClr val="accent1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8000" b="0" u="none" strike="noStrike" cap="all">
                <a:solidFill>
                  <a:schemeClr val="accent1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218" name="PlaceHolder 2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916880" cy="6857640"/>
          </a:xfrm>
          <a:prstGeom prst="rect">
            <a:avLst/>
          </a:prstGeom>
          <a:blipFill rotWithShape="0">
            <a:blip r:embed="rId2">
              <a:alphaModFix amt="80000"/>
            </a:blip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 Gothic Next Light"/>
              </a:rPr>
              <a:t> </a:t>
            </a:r>
            <a:endParaRPr lang="en-US" sz="1800" b="0" u="none" strike="noStrike">
              <a:solidFill>
                <a:schemeClr val="dk2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5266800" y="2651760"/>
            <a:ext cx="632736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  <a:defRPr lang="en-US" sz="20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800280" lvl="1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257480" lvl="2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714680" lvl="3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171880" lvl="4" indent="-34308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Haettenschweiler"/>
              <a:buAutoNum type="arabicPeriod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220" name="PlaceHolder 4"/>
          <p:cNvSpPr>
            <a:spLocks noGrp="1"/>
          </p:cNvSpPr>
          <p:nvPr>
            <p:ph type="ftr" idx="75"/>
          </p:nvPr>
        </p:nvSpPr>
        <p:spPr>
          <a:xfrm>
            <a:off x="5271840" y="210240"/>
            <a:ext cx="29624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dt" idx="76"/>
          </p:nvPr>
        </p:nvSpPr>
        <p:spPr>
          <a:xfrm>
            <a:off x="9573480" y="210240"/>
            <a:ext cx="167940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 type="sldNum" idx="77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B2EE68-D67B-4A92-BC4D-4CD731E2C433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23" name="Straight Connector 8"/>
          <p:cNvCxnSpPr/>
          <p:nvPr/>
        </p:nvCxnSpPr>
        <p:spPr>
          <a:xfrm>
            <a:off x="4923720" y="2452320"/>
            <a:ext cx="7268400" cy="360"/>
          </a:xfrm>
          <a:prstGeom prst="straightConnector1">
            <a:avLst/>
          </a:prstGeom>
          <a:ln w="9525">
            <a:solidFill>
              <a:srgbClr val="C8350F"/>
            </a:solidFill>
          </a:ln>
        </p:spPr>
      </p:cxnSp>
      <p:cxnSp>
        <p:nvCxnSpPr>
          <p:cNvPr id="224" name="Straight Connector 9"/>
          <p:cNvCxnSpPr/>
          <p:nvPr/>
        </p:nvCxnSpPr>
        <p:spPr>
          <a:xfrm flipV="1">
            <a:off x="4923720" y="0"/>
            <a:ext cx="360" cy="6858360"/>
          </a:xfrm>
          <a:prstGeom prst="straightConnector1">
            <a:avLst/>
          </a:prstGeom>
          <a:ln w="9525">
            <a:solidFill>
              <a:srgbClr val="C8350F"/>
            </a:solidFill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226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93120" y="2077200"/>
            <a:ext cx="4478760" cy="269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l" defTabSz="914400">
              <a:lnSpc>
                <a:spcPct val="70000"/>
              </a:lnSpc>
              <a:buNone/>
              <a:defRPr lang="en-US" sz="66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66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228" name="PlaceHolder 2"/>
          <p:cNvSpPr>
            <a:spLocks noGrp="1"/>
          </p:cNvSpPr>
          <p:nvPr>
            <p:ph type="ftr" idx="78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5751720" y="2210400"/>
            <a:ext cx="5869080" cy="243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230" name="PlaceHolder 4"/>
          <p:cNvSpPr>
            <a:spLocks noGrp="1"/>
          </p:cNvSpPr>
          <p:nvPr>
            <p:ph type="dt" idx="79"/>
          </p:nvPr>
        </p:nvSpPr>
        <p:spPr>
          <a:xfrm>
            <a:off x="575172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sldNum" idx="80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694412-B86B-42F4-BE5B-5232EE983261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32" name="Straight Connector 6"/>
          <p:cNvCxnSpPr/>
          <p:nvPr/>
        </p:nvCxnSpPr>
        <p:spPr>
          <a:xfrm>
            <a:off x="5311800" y="1550520"/>
            <a:ext cx="360" cy="37569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cxnSp>
        <p:nvCxnSpPr>
          <p:cNvPr id="233" name="Straight Connector 8"/>
          <p:cNvCxnSpPr/>
          <p:nvPr/>
        </p:nvCxnSpPr>
        <p:spPr>
          <a:xfrm>
            <a:off x="0" y="530856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cxnSp>
        <p:nvCxnSpPr>
          <p:cNvPr id="234" name="Straight Connector 10"/>
          <p:cNvCxnSpPr/>
          <p:nvPr/>
        </p:nvCxnSpPr>
        <p:spPr>
          <a:xfrm>
            <a:off x="0" y="155052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Straight Connector 9"/>
          <p:cNvCxnSpPr/>
          <p:nvPr/>
        </p:nvCxnSpPr>
        <p:spPr>
          <a:xfrm>
            <a:off x="0" y="789480"/>
            <a:ext cx="12192120" cy="36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  <p:sp>
        <p:nvSpPr>
          <p:cNvPr id="236" name="TextBox 7"/>
          <p:cNvSpPr/>
          <p:nvPr/>
        </p:nvSpPr>
        <p:spPr>
          <a:xfrm>
            <a:off x="63360" y="6642000"/>
            <a:ext cx="197784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Aptos"/>
              </a:rPr>
              <a:t>Classified as Microsoft Confidential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93120" y="1249920"/>
            <a:ext cx="4085640" cy="512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70000"/>
              </a:lnSpc>
              <a:buNone/>
              <a:defRPr lang="en-US" sz="66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</a:pPr>
            <a:r>
              <a:rPr lang="en-US" sz="6600" b="0" u="none" strike="noStrike" cap="all">
                <a:solidFill>
                  <a:schemeClr val="dk2"/>
                </a:solidFill>
                <a:effectLst/>
                <a:uFillTx/>
                <a:latin typeface="Haettenschweiler"/>
              </a:rPr>
              <a:t>Click to edit Master title style</a:t>
            </a:r>
          </a:p>
        </p:txBody>
      </p:sp>
      <p:sp>
        <p:nvSpPr>
          <p:cNvPr id="238" name="PlaceHolder 2"/>
          <p:cNvSpPr>
            <a:spLocks noGrp="1"/>
          </p:cNvSpPr>
          <p:nvPr>
            <p:ph type="ftr" idx="81"/>
          </p:nvPr>
        </p:nvSpPr>
        <p:spPr>
          <a:xfrm>
            <a:off x="317880" y="208080"/>
            <a:ext cx="29631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&lt;footer&gt;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5358240" y="1249920"/>
            <a:ext cx="6440040" cy="52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  <a:def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  <a:def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171717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171717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Trade Gothic Next Light"/>
              </a:rPr>
              <a:t>Fifth level</a:t>
            </a:r>
          </a:p>
        </p:txBody>
      </p:sp>
      <p:sp>
        <p:nvSpPr>
          <p:cNvPr id="240" name="PlaceHolder 4"/>
          <p:cNvSpPr>
            <a:spLocks noGrp="1"/>
          </p:cNvSpPr>
          <p:nvPr>
            <p:ph type="dt" idx="82"/>
          </p:nvPr>
        </p:nvSpPr>
        <p:spPr>
          <a:xfrm>
            <a:off x="5364000" y="208080"/>
            <a:ext cx="192096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850" b="1" u="none" strike="noStrike" cap="all" spc="99">
                <a:solidFill>
                  <a:schemeClr val="dk2"/>
                </a:solidFill>
                <a:effectLst/>
                <a:uFillTx/>
                <a:latin typeface="Trade Gothic Next Light"/>
              </a:rPr>
              <a:t>&lt;date/time&gt;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sldNum" idx="83"/>
          </p:nvPr>
        </p:nvSpPr>
        <p:spPr>
          <a:xfrm>
            <a:off x="11288880" y="208080"/>
            <a:ext cx="546120" cy="41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87F8F1-400E-4EBA-8C7E-1C310665B3A5}" type="slidenum">
              <a:rPr lang="en-US" sz="850" b="1" u="none" strike="noStrike" cap="all">
                <a:solidFill>
                  <a:schemeClr val="dk2"/>
                </a:solidFill>
                <a:effectLst/>
                <a:uFillTx/>
                <a:latin typeface="Trade Gothic Next Light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42" name="Straight Connector 6"/>
          <p:cNvCxnSpPr/>
          <p:nvPr/>
        </p:nvCxnSpPr>
        <p:spPr>
          <a:xfrm>
            <a:off x="4918680" y="805320"/>
            <a:ext cx="360" cy="6053040"/>
          </a:xfrm>
          <a:prstGeom prst="straightConnector1">
            <a:avLst/>
          </a:prstGeom>
          <a:ln w="9525">
            <a:solidFill>
              <a:srgbClr val="171717"/>
            </a:solidFill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5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PlaceHolder 2"/>
          <p:cNvSpPr>
            <a:spLocks noGrp="1"/>
          </p:cNvSpPr>
          <p:nvPr>
            <p:ph type="subTitle"/>
          </p:nvPr>
        </p:nvSpPr>
        <p:spPr>
          <a:xfrm>
            <a:off x="1105629" y="2639083"/>
            <a:ext cx="10332000" cy="39654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CANOPUS - C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hange 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nalysis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&amp;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N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eural 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O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bservation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of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P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ersistent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U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nified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S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cenes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9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Picture 257"/>
          <p:cNvPicPr/>
          <p:nvPr/>
        </p:nvPicPr>
        <p:blipFill>
          <a:blip r:embed="rId4"/>
          <a:stretch/>
        </p:blipFill>
        <p:spPr>
          <a:xfrm>
            <a:off x="228600" y="479160"/>
            <a:ext cx="11327400" cy="637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Box 258"/>
          <p:cNvSpPr txBox="1"/>
          <p:nvPr/>
        </p:nvSpPr>
        <p:spPr>
          <a:xfrm>
            <a:off x="590760" y="1342080"/>
            <a:ext cx="3560040" cy="76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lstStyle/>
          <a:p>
            <a:pPr algn="ctr"/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/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/>
            <a:r>
              <a:rPr lang="en-US" sz="1000" b="0" u="none" strike="noStrike" dirty="0">
                <a:solidFill>
                  <a:srgbClr val="374151"/>
                </a:solidFill>
                <a:effectLst/>
                <a:uFillTx/>
                <a:latin typeface="Times New Roman"/>
              </a:rPr>
              <a:t>Satellite archives are now multi-temporal, multi-spectral, and multi-sensor. The raw volume of data is no longer the bottleneck - making sense of it is.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493200" y="2442600"/>
            <a:ext cx="3429000" cy="182880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 anchorCtr="1">
            <a:spAutoFit/>
          </a:bodyPr>
          <a:lstStyle/>
          <a:p>
            <a:pPr algn="ctr"/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000" b="0" u="none" strike="noStrike" dirty="0">
                <a:solidFill>
                  <a:srgbClr val="374151"/>
                </a:solidFill>
                <a:effectLst/>
                <a:uFillTx/>
                <a:latin typeface="Times New Roman"/>
              </a:rPr>
              <a:t>Existing catalogues require prior knowledge of location, date, satellite/sensor, and product type, leaving relevant data undiscovered without knowing where or when to search.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1253160" y="1342080"/>
            <a:ext cx="217584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400" b="1" u="none" strike="noStrike" dirty="0">
                <a:solidFill>
                  <a:srgbClr val="5F598A"/>
                </a:solidFill>
                <a:effectLst/>
                <a:uFillTx/>
                <a:latin typeface="Times New Roman"/>
              </a:rPr>
              <a:t>The Data Explosion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99000" y="2442600"/>
            <a:ext cx="246780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400" b="1" u="none" strike="noStrike">
                <a:solidFill>
                  <a:srgbClr val="69839C"/>
                </a:solidFill>
                <a:effectLst/>
                <a:uFillTx/>
                <a:latin typeface="Times New Roman"/>
              </a:rPr>
              <a:t>Metadata-Only Search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86400" y="3467520"/>
            <a:ext cx="231480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400" b="1" u="none" strike="noStrike">
                <a:solidFill>
                  <a:srgbClr val="69839C"/>
                </a:solidFill>
                <a:effectLst/>
                <a:uFillTx/>
                <a:latin typeface="Times New Roman"/>
              </a:rPr>
              <a:t>Meaning is Missing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19120" y="3685680"/>
            <a:ext cx="3331080" cy="65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000" b="0" u="none" strike="noStrike" dirty="0">
                <a:solidFill>
                  <a:srgbClr val="374151"/>
                </a:solidFill>
                <a:effectLst/>
                <a:uFillTx/>
                <a:latin typeface="Times New Roman"/>
              </a:rPr>
              <a:t>Analysts need intent-based search, such as "new structures near a river" or "vehicle concentrations on open ground." Traditional metadata search cannot understand such semantic queries.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47523" y="5579280"/>
            <a:ext cx="3112920" cy="306323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1" dirty="0">
                <a:solidFill>
                  <a:srgbClr val="7B8C50"/>
                </a:solidFill>
                <a:latin typeface="Times New Roman"/>
              </a:rPr>
              <a:t>A</a:t>
            </a:r>
            <a:r>
              <a:rPr lang="en-US" sz="1400" b="1" u="none" strike="noStrike" dirty="0">
                <a:solidFill>
                  <a:srgbClr val="7B8C50"/>
                </a:solidFill>
                <a:effectLst/>
                <a:uFillTx/>
                <a:latin typeface="Times New Roman"/>
              </a:rPr>
              <a:t>nalyst Decision &amp; Provenance Gap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47280" y="5798172"/>
            <a:ext cx="3503520" cy="55254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changes are difficult to prioritize and verify, while analyst decisions lack effective feedback and traceable provenance for reporting and audit.</a:t>
            </a:r>
            <a:endParaRPr lang="en-US" sz="1000" b="0" u="none" strike="noStrike" dirty="0">
              <a:solidFill>
                <a:srgbClr val="37415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5102280" y="2298600"/>
            <a:ext cx="384120" cy="34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1.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4500000" y="2964960"/>
            <a:ext cx="384120" cy="34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2.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68"/>
          <p:cNvSpPr txBox="1"/>
          <p:nvPr/>
        </p:nvSpPr>
        <p:spPr>
          <a:xfrm>
            <a:off x="4382640" y="3666600"/>
            <a:ext cx="384120" cy="34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3.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BD440-7757-7D82-C95D-D58D1A7732FF}"/>
              </a:ext>
            </a:extLst>
          </p:cNvPr>
          <p:cNvSpPr txBox="1"/>
          <p:nvPr/>
        </p:nvSpPr>
        <p:spPr>
          <a:xfrm>
            <a:off x="445550" y="4559419"/>
            <a:ext cx="4365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AFC7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Multi-Temporal Complexity &amp; False Alarms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FF6F1-4B77-89FF-743B-E292CAF46850}"/>
              </a:ext>
            </a:extLst>
          </p:cNvPr>
          <p:cNvSpPr txBox="1"/>
          <p:nvPr/>
        </p:nvSpPr>
        <p:spPr>
          <a:xfrm>
            <a:off x="233612" y="4793287"/>
            <a:ext cx="38225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T1-T2 comparison creates false alarms from clouds, shadows, haze, seasonal and imaging variations, making it difficult to separate real change from noise or determine when it emerged.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13171-EB70-88FE-1B77-061326A3F67F}"/>
              </a:ext>
            </a:extLst>
          </p:cNvPr>
          <p:cNvSpPr txBox="1"/>
          <p:nvPr/>
        </p:nvSpPr>
        <p:spPr>
          <a:xfrm>
            <a:off x="4592532" y="4304670"/>
            <a:ext cx="384120" cy="3678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/>
              </a:rPr>
              <a:t>4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38382-C5CC-3A10-BDAF-236818BD502A}"/>
              </a:ext>
            </a:extLst>
          </p:cNvPr>
          <p:cNvSpPr txBox="1"/>
          <p:nvPr/>
        </p:nvSpPr>
        <p:spPr>
          <a:xfrm>
            <a:off x="5144645" y="4849016"/>
            <a:ext cx="384120" cy="3678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/>
              </a:rPr>
              <a:t>5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90AB3-3767-1385-56D7-B06B4C235F57}"/>
              </a:ext>
            </a:extLst>
          </p:cNvPr>
          <p:cNvSpPr txBox="1"/>
          <p:nvPr/>
        </p:nvSpPr>
        <p:spPr>
          <a:xfrm>
            <a:off x="7428349" y="1647948"/>
            <a:ext cx="40677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text and satellite imagery via </a:t>
            </a:r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 Based Architecture</a:t>
            </a:r>
            <a:r>
              <a:rPr lang="en-US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 shared 512-D space for semantic retrieval. Odrant + PostGIS filter scenes by location, time, sensor, and quality.</a:t>
            </a:r>
            <a:endParaRPr lang="en-IN" sz="10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6265D-C1A6-C2E9-F84D-29BFD37AE61C}"/>
              </a:ext>
            </a:extLst>
          </p:cNvPr>
          <p:cNvSpPr txBox="1"/>
          <p:nvPr/>
        </p:nvSpPr>
        <p:spPr>
          <a:xfrm>
            <a:off x="7961019" y="1391493"/>
            <a:ext cx="4254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&amp; Multimodal Retrieval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70DAE-1F3D-A770-FE56-55B68B099B9E}"/>
              </a:ext>
            </a:extLst>
          </p:cNvPr>
          <p:cNvSpPr txBox="1"/>
          <p:nvPr/>
        </p:nvSpPr>
        <p:spPr>
          <a:xfrm>
            <a:off x="6337243" y="2251309"/>
            <a:ext cx="384120" cy="34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1.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2177E-22E8-594C-DE4A-59380779917D}"/>
              </a:ext>
            </a:extLst>
          </p:cNvPr>
          <p:cNvSpPr txBox="1"/>
          <p:nvPr/>
        </p:nvSpPr>
        <p:spPr>
          <a:xfrm>
            <a:off x="6957349" y="2923963"/>
            <a:ext cx="384120" cy="3678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/>
              </a:rPr>
              <a:t>2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856AA-2E29-7A6C-90C8-E2F61A70A246}"/>
              </a:ext>
            </a:extLst>
          </p:cNvPr>
          <p:cNvSpPr txBox="1"/>
          <p:nvPr/>
        </p:nvSpPr>
        <p:spPr>
          <a:xfrm>
            <a:off x="7068024" y="3682369"/>
            <a:ext cx="384120" cy="34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3.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CCCA7F-3728-0076-7378-DA44803867DF}"/>
              </a:ext>
            </a:extLst>
          </p:cNvPr>
          <p:cNvSpPr txBox="1"/>
          <p:nvPr/>
        </p:nvSpPr>
        <p:spPr>
          <a:xfrm>
            <a:off x="6804955" y="4351970"/>
            <a:ext cx="384120" cy="3678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/>
              </a:rPr>
              <a:t>4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76471E-6B0F-B7EB-41DE-1D28792B6719}"/>
              </a:ext>
            </a:extLst>
          </p:cNvPr>
          <p:cNvSpPr txBox="1"/>
          <p:nvPr/>
        </p:nvSpPr>
        <p:spPr>
          <a:xfrm>
            <a:off x="6242973" y="4885801"/>
            <a:ext cx="384120" cy="3678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/>
              </a:rPr>
              <a:t>5</a:t>
            </a: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4A9006-C0FE-A300-4693-62FBEEBF3B63}"/>
              </a:ext>
            </a:extLst>
          </p:cNvPr>
          <p:cNvSpPr txBox="1"/>
          <p:nvPr/>
        </p:nvSpPr>
        <p:spPr>
          <a:xfrm>
            <a:off x="7795123" y="2668521"/>
            <a:ext cx="35770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cloud masking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shadow ray tracing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radiometric calibration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clean imagery at ingestion.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Sub-pixel alignment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Left-MAD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seasonal checks reduce false alarms during analysis.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443D70-10E9-49E8-B028-95AB6627A5F2}"/>
              </a:ext>
            </a:extLst>
          </p:cNvPr>
          <p:cNvSpPr txBox="1"/>
          <p:nvPr/>
        </p:nvSpPr>
        <p:spPr>
          <a:xfrm>
            <a:off x="8147832" y="2423029"/>
            <a:ext cx="6106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DF8B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Two-Tier False-Alarm Suppression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4CF89D-C29B-6AE6-88E6-7D83F827FFF7}"/>
              </a:ext>
            </a:extLst>
          </p:cNvPr>
          <p:cNvSpPr txBox="1"/>
          <p:nvPr/>
        </p:nvSpPr>
        <p:spPr>
          <a:xfrm>
            <a:off x="8153459" y="3467520"/>
            <a:ext cx="3374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1A1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Multi-Temporal Change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03D9A4-07E1-0E8A-337E-4D34A31ABE66}"/>
              </a:ext>
            </a:extLst>
          </p:cNvPr>
          <p:cNvSpPr txBox="1"/>
          <p:nvPr/>
        </p:nvSpPr>
        <p:spPr>
          <a:xfrm>
            <a:off x="7704815" y="3721875"/>
            <a:ext cx="38754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spatio-temporal foundation model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detects when changes emerge across multi-year imagery.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differences</a:t>
            </a:r>
            <a:r>
              <a:rPr lang="en-IN" sz="10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locate changes, while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indices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models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classify what changed.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854CDD-2DB8-6A03-F71B-21439E455B71}"/>
              </a:ext>
            </a:extLst>
          </p:cNvPr>
          <p:cNvSpPr txBox="1"/>
          <p:nvPr/>
        </p:nvSpPr>
        <p:spPr>
          <a:xfrm>
            <a:off x="7948500" y="4499119"/>
            <a:ext cx="32056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A699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Clustering &amp;</a:t>
            </a:r>
          </a:p>
          <a:p>
            <a:pPr algn="ctr"/>
            <a:r>
              <a:rPr lang="en-IN" sz="1400" b="1" dirty="0">
                <a:solidFill>
                  <a:srgbClr val="A699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Cross-Site Discovery HDBSCAN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783D8-1B32-BAD1-904E-F3DD0D4FA7F6}"/>
              </a:ext>
            </a:extLst>
          </p:cNvPr>
          <p:cNvSpPr txBox="1"/>
          <p:nvPr/>
        </p:nvSpPr>
        <p:spPr>
          <a:xfrm>
            <a:off x="7636396" y="4896311"/>
            <a:ext cx="3954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clusters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similar satellite scenes into distinct groups. Analysts can select any scene to instantly retrieve matching locations using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similarity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020D39-9721-5B51-FE8B-0E6BFAC27D8B}"/>
              </a:ext>
            </a:extLst>
          </p:cNvPr>
          <p:cNvSpPr txBox="1"/>
          <p:nvPr/>
        </p:nvSpPr>
        <p:spPr>
          <a:xfrm>
            <a:off x="7692286" y="5600430"/>
            <a:ext cx="3778462" cy="316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92A6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 Triage, Reranking &amp; Provenance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38B172D-5BA7-DF51-E736-76B75B11CB99}"/>
              </a:ext>
            </a:extLst>
          </p:cNvPr>
          <p:cNvSpPr txBox="1"/>
          <p:nvPr/>
        </p:nvSpPr>
        <p:spPr>
          <a:xfrm>
            <a:off x="7205274" y="5826750"/>
            <a:ext cx="43749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Rank: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alerts 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before/after evidence. </a:t>
            </a:r>
          </a:p>
          <a:p>
            <a:pPr algn="ctr"/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&amp; Learn: Confirm/Reject refines retrieval via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Rocchio re-ranking</a:t>
            </a:r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N" sz="1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&amp; Export: Immutable logs in </a:t>
            </a:r>
            <a:r>
              <a:rPr lang="en-I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GeoJSON, PDF &amp;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9">
            <a:extLst>
              <a:ext uri="{FF2B5EF4-FFF2-40B4-BE49-F238E27FC236}">
                <a16:creationId xmlns:a16="http://schemas.microsoft.com/office/drawing/2014/main" id="{C0E92E22-3B37-0A31-2CAA-9368F95ACEC0}"/>
              </a:ext>
            </a:extLst>
          </p:cNvPr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240" y="-219826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1542B6-C756-271A-A6FD-AEE30AB71D57}"/>
              </a:ext>
            </a:extLst>
          </p:cNvPr>
          <p:cNvSpPr txBox="1"/>
          <p:nvPr/>
        </p:nvSpPr>
        <p:spPr>
          <a:xfrm>
            <a:off x="3942629" y="13206"/>
            <a:ext cx="3997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Tech Stack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8C562B-DF96-3EFB-6290-E6A65C0F4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4473" y="478539"/>
            <a:ext cx="5245994" cy="1748665"/>
          </a:xfrm>
          <a:prstGeom prst="rect">
            <a:avLst/>
          </a:prstGeom>
        </p:spPr>
      </p:pic>
      <p:cxnSp>
        <p:nvCxnSpPr>
          <p:cNvPr id="33" name="Straight Arrow Connector 1">
            <a:extLst>
              <a:ext uri="{FF2B5EF4-FFF2-40B4-BE49-F238E27FC236}">
                <a16:creationId xmlns:a16="http://schemas.microsoft.com/office/drawing/2014/main" id="{6AA440B0-84EC-3B19-7ADC-8D197EFB4771}"/>
              </a:ext>
            </a:extLst>
          </p:cNvPr>
          <p:cNvCxnSpPr>
            <a:cxnSpLocks/>
          </p:cNvCxnSpPr>
          <p:nvPr/>
        </p:nvCxnSpPr>
        <p:spPr>
          <a:xfrm>
            <a:off x="3297161" y="1980266"/>
            <a:ext cx="0" cy="895014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cxnSp>
        <p:nvCxnSpPr>
          <p:cNvPr id="35" name="Straight Arrow Connector 12">
            <a:extLst>
              <a:ext uri="{FF2B5EF4-FFF2-40B4-BE49-F238E27FC236}">
                <a16:creationId xmlns:a16="http://schemas.microsoft.com/office/drawing/2014/main" id="{31B8A69A-27FF-A6B3-6A8F-57C7B6952093}"/>
              </a:ext>
            </a:extLst>
          </p:cNvPr>
          <p:cNvCxnSpPr>
            <a:cxnSpLocks/>
          </p:cNvCxnSpPr>
          <p:nvPr/>
        </p:nvCxnSpPr>
        <p:spPr>
          <a:xfrm>
            <a:off x="4709150" y="1980266"/>
            <a:ext cx="0" cy="895014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cxnSp>
        <p:nvCxnSpPr>
          <p:cNvPr id="41" name="Straight Arrow Connector 95">
            <a:extLst>
              <a:ext uri="{FF2B5EF4-FFF2-40B4-BE49-F238E27FC236}">
                <a16:creationId xmlns:a16="http://schemas.microsoft.com/office/drawing/2014/main" id="{770F8BEE-F561-94CF-388C-9FA209FB541A}"/>
              </a:ext>
            </a:extLst>
          </p:cNvPr>
          <p:cNvCxnSpPr>
            <a:cxnSpLocks/>
          </p:cNvCxnSpPr>
          <p:nvPr/>
        </p:nvCxnSpPr>
        <p:spPr>
          <a:xfrm flipV="1">
            <a:off x="3182099" y="3897342"/>
            <a:ext cx="0" cy="1131858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18687C4F-5B5C-1F11-E82B-4037AB340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557" y="1148995"/>
            <a:ext cx="3859280" cy="5788920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19BD4C20-BE59-1839-7B7A-71E5AF482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9488" y="2438400"/>
            <a:ext cx="3926512" cy="1963256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B7925AA9-8712-1792-90F4-818844D59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9206" y="4817843"/>
            <a:ext cx="5074592" cy="1819971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42FB5E05-A14D-1E9F-1E60-F29819DEAB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1521" y="2762565"/>
            <a:ext cx="3390227" cy="1328671"/>
          </a:xfrm>
          <a:prstGeom prst="rect">
            <a:avLst/>
          </a:prstGeom>
        </p:spPr>
      </p:pic>
      <p:cxnSp>
        <p:nvCxnSpPr>
          <p:cNvPr id="318" name="Straight Arrow Connector 24">
            <a:extLst>
              <a:ext uri="{FF2B5EF4-FFF2-40B4-BE49-F238E27FC236}">
                <a16:creationId xmlns:a16="http://schemas.microsoft.com/office/drawing/2014/main" id="{C5FE1B4C-2BF2-BB89-0202-08FDB1D014E3}"/>
              </a:ext>
            </a:extLst>
          </p:cNvPr>
          <p:cNvCxnSpPr>
            <a:cxnSpLocks/>
          </p:cNvCxnSpPr>
          <p:nvPr/>
        </p:nvCxnSpPr>
        <p:spPr>
          <a:xfrm>
            <a:off x="5534375" y="3392100"/>
            <a:ext cx="262185" cy="0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pic>
        <p:nvPicPr>
          <p:cNvPr id="320" name="Picture 319">
            <a:extLst>
              <a:ext uri="{FF2B5EF4-FFF2-40B4-BE49-F238E27FC236}">
                <a16:creationId xmlns:a16="http://schemas.microsoft.com/office/drawing/2014/main" id="{B6B80AA5-10BC-268B-1B16-EDEF4DEFA9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1606" y="4607882"/>
            <a:ext cx="2346899" cy="1564599"/>
          </a:xfrm>
          <a:prstGeom prst="rect">
            <a:avLst/>
          </a:prstGeom>
        </p:spPr>
      </p:pic>
      <p:cxnSp>
        <p:nvCxnSpPr>
          <p:cNvPr id="327" name="Straight Arrow Connector 112">
            <a:extLst>
              <a:ext uri="{FF2B5EF4-FFF2-40B4-BE49-F238E27FC236}">
                <a16:creationId xmlns:a16="http://schemas.microsoft.com/office/drawing/2014/main" id="{623D4EFC-4165-2B0A-F8C0-FACF2FC10876}"/>
              </a:ext>
            </a:extLst>
          </p:cNvPr>
          <p:cNvCxnSpPr>
            <a:cxnSpLocks/>
          </p:cNvCxnSpPr>
          <p:nvPr/>
        </p:nvCxnSpPr>
        <p:spPr>
          <a:xfrm>
            <a:off x="7277655" y="3973373"/>
            <a:ext cx="0" cy="736922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cxnSp>
        <p:nvCxnSpPr>
          <p:cNvPr id="335" name="Straight Connector 101">
            <a:extLst>
              <a:ext uri="{FF2B5EF4-FFF2-40B4-BE49-F238E27FC236}">
                <a16:creationId xmlns:a16="http://schemas.microsoft.com/office/drawing/2014/main" id="{6BFAC5C9-0B65-E7F1-0813-DE95C7FEAEAA}"/>
              </a:ext>
            </a:extLst>
          </p:cNvPr>
          <p:cNvCxnSpPr>
            <a:cxnSpLocks/>
          </p:cNvCxnSpPr>
          <p:nvPr/>
        </p:nvCxnSpPr>
        <p:spPr>
          <a:xfrm>
            <a:off x="5013712" y="5390181"/>
            <a:ext cx="1041327" cy="1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339" name="Straight Connector 72">
            <a:extLst>
              <a:ext uri="{FF2B5EF4-FFF2-40B4-BE49-F238E27FC236}">
                <a16:creationId xmlns:a16="http://schemas.microsoft.com/office/drawing/2014/main" id="{E483E73D-F64F-9341-605B-27B3ACC72F39}"/>
              </a:ext>
            </a:extLst>
          </p:cNvPr>
          <p:cNvCxnSpPr>
            <a:cxnSpLocks/>
          </p:cNvCxnSpPr>
          <p:nvPr/>
        </p:nvCxnSpPr>
        <p:spPr>
          <a:xfrm>
            <a:off x="5013712" y="4341834"/>
            <a:ext cx="0" cy="1048347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343" name="Straight Connector 72">
            <a:extLst>
              <a:ext uri="{FF2B5EF4-FFF2-40B4-BE49-F238E27FC236}">
                <a16:creationId xmlns:a16="http://schemas.microsoft.com/office/drawing/2014/main" id="{DFF8E730-D365-EF91-C341-8E62612BBA9C}"/>
              </a:ext>
            </a:extLst>
          </p:cNvPr>
          <p:cNvCxnSpPr>
            <a:cxnSpLocks/>
          </p:cNvCxnSpPr>
          <p:nvPr/>
        </p:nvCxnSpPr>
        <p:spPr>
          <a:xfrm flipH="1">
            <a:off x="3766918" y="4329039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346" name="Straight Arrow Connector 79">
            <a:extLst>
              <a:ext uri="{FF2B5EF4-FFF2-40B4-BE49-F238E27FC236}">
                <a16:creationId xmlns:a16="http://schemas.microsoft.com/office/drawing/2014/main" id="{1A2AE723-1855-213A-3EA8-7232A850AC14}"/>
              </a:ext>
            </a:extLst>
          </p:cNvPr>
          <p:cNvCxnSpPr>
            <a:cxnSpLocks/>
          </p:cNvCxnSpPr>
          <p:nvPr/>
        </p:nvCxnSpPr>
        <p:spPr>
          <a:xfrm flipV="1">
            <a:off x="3766918" y="3870960"/>
            <a:ext cx="0" cy="458079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pic>
        <p:nvPicPr>
          <p:cNvPr id="353" name="Picture 352">
            <a:extLst>
              <a:ext uri="{FF2B5EF4-FFF2-40B4-BE49-F238E27FC236}">
                <a16:creationId xmlns:a16="http://schemas.microsoft.com/office/drawing/2014/main" id="{E937E1A0-6324-801E-65C3-A7B62D3956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75" b="-6674"/>
          <a:stretch>
            <a:fillRect/>
          </a:stretch>
        </p:blipFill>
        <p:spPr>
          <a:xfrm>
            <a:off x="5045386" y="4433196"/>
            <a:ext cx="1198830" cy="530868"/>
          </a:xfrm>
          <a:prstGeom prst="rect">
            <a:avLst/>
          </a:prstGeom>
        </p:spPr>
      </p:pic>
      <p:pic>
        <p:nvPicPr>
          <p:cNvPr id="357" name="Picture 356">
            <a:extLst>
              <a:ext uri="{FF2B5EF4-FFF2-40B4-BE49-F238E27FC236}">
                <a16:creationId xmlns:a16="http://schemas.microsoft.com/office/drawing/2014/main" id="{E7BEBD64-FDB7-FB9C-9DE3-B73764860E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4545" y="4361334"/>
            <a:ext cx="1130841" cy="387325"/>
          </a:xfrm>
          <a:prstGeom prst="rect">
            <a:avLst/>
          </a:prstGeom>
        </p:spPr>
      </p:pic>
      <p:pic>
        <p:nvPicPr>
          <p:cNvPr id="365" name="Picture 364">
            <a:extLst>
              <a:ext uri="{FF2B5EF4-FFF2-40B4-BE49-F238E27FC236}">
                <a16:creationId xmlns:a16="http://schemas.microsoft.com/office/drawing/2014/main" id="{8B3F278A-29DF-7BFC-937C-22A7247CCF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42772" y="2174034"/>
            <a:ext cx="1254389" cy="433014"/>
          </a:xfrm>
          <a:prstGeom prst="rect">
            <a:avLst/>
          </a:prstGeom>
        </p:spPr>
      </p:pic>
      <p:pic>
        <p:nvPicPr>
          <p:cNvPr id="367" name="Picture 366">
            <a:extLst>
              <a:ext uri="{FF2B5EF4-FFF2-40B4-BE49-F238E27FC236}">
                <a16:creationId xmlns:a16="http://schemas.microsoft.com/office/drawing/2014/main" id="{15B3EB70-5402-4011-53E8-976CEBA7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5880" y="2063934"/>
            <a:ext cx="1010241" cy="673494"/>
          </a:xfrm>
          <a:prstGeom prst="rect">
            <a:avLst/>
          </a:prstGeom>
        </p:spPr>
      </p:pic>
      <p:pic>
        <p:nvPicPr>
          <p:cNvPr id="377" name="Picture 376">
            <a:extLst>
              <a:ext uri="{FF2B5EF4-FFF2-40B4-BE49-F238E27FC236}">
                <a16:creationId xmlns:a16="http://schemas.microsoft.com/office/drawing/2014/main" id="{A477CB7F-357E-6F95-E76C-055BC5B304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1431" y="2676097"/>
            <a:ext cx="2734716" cy="1367358"/>
          </a:xfrm>
          <a:prstGeom prst="rect">
            <a:avLst/>
          </a:prstGeom>
        </p:spPr>
      </p:pic>
      <p:cxnSp>
        <p:nvCxnSpPr>
          <p:cNvPr id="378" name="Straight Connector 101">
            <a:extLst>
              <a:ext uri="{FF2B5EF4-FFF2-40B4-BE49-F238E27FC236}">
                <a16:creationId xmlns:a16="http://schemas.microsoft.com/office/drawing/2014/main" id="{1AAE5C76-E36F-05DC-5AA9-655940636133}"/>
              </a:ext>
            </a:extLst>
          </p:cNvPr>
          <p:cNvCxnSpPr>
            <a:cxnSpLocks/>
          </p:cNvCxnSpPr>
          <p:nvPr/>
        </p:nvCxnSpPr>
        <p:spPr>
          <a:xfrm>
            <a:off x="1296000" y="3856508"/>
            <a:ext cx="0" cy="223316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381" name="Straight Connector 101">
            <a:extLst>
              <a:ext uri="{FF2B5EF4-FFF2-40B4-BE49-F238E27FC236}">
                <a16:creationId xmlns:a16="http://schemas.microsoft.com/office/drawing/2014/main" id="{8B2A470F-1759-7757-1681-D952BED86CEC}"/>
              </a:ext>
            </a:extLst>
          </p:cNvPr>
          <p:cNvCxnSpPr>
            <a:cxnSpLocks/>
          </p:cNvCxnSpPr>
          <p:nvPr/>
        </p:nvCxnSpPr>
        <p:spPr>
          <a:xfrm flipV="1">
            <a:off x="1286426" y="4087992"/>
            <a:ext cx="1633652" cy="8763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383" name="Straight Arrow Connector 79">
            <a:extLst>
              <a:ext uri="{FF2B5EF4-FFF2-40B4-BE49-F238E27FC236}">
                <a16:creationId xmlns:a16="http://schemas.microsoft.com/office/drawing/2014/main" id="{EAB578BB-520B-6B2F-4C31-D4D8B9674D3C}"/>
              </a:ext>
            </a:extLst>
          </p:cNvPr>
          <p:cNvCxnSpPr>
            <a:cxnSpLocks/>
          </p:cNvCxnSpPr>
          <p:nvPr/>
        </p:nvCxnSpPr>
        <p:spPr>
          <a:xfrm flipV="1">
            <a:off x="2920078" y="3856508"/>
            <a:ext cx="0" cy="223316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pic>
        <p:nvPicPr>
          <p:cNvPr id="390" name="Picture 389">
            <a:extLst>
              <a:ext uri="{FF2B5EF4-FFF2-40B4-BE49-F238E27FC236}">
                <a16:creationId xmlns:a16="http://schemas.microsoft.com/office/drawing/2014/main" id="{4276D07A-88DE-D20E-C7C1-3A42067344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2511" y="3841138"/>
            <a:ext cx="839250" cy="279749"/>
          </a:xfrm>
          <a:prstGeom prst="rect">
            <a:avLst/>
          </a:prstGeom>
        </p:spPr>
      </p:pic>
      <p:pic>
        <p:nvPicPr>
          <p:cNvPr id="392" name="Picture 391">
            <a:extLst>
              <a:ext uri="{FF2B5EF4-FFF2-40B4-BE49-F238E27FC236}">
                <a16:creationId xmlns:a16="http://schemas.microsoft.com/office/drawing/2014/main" id="{39A301A6-BD96-E0A0-5F45-11E81951D92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5386" y="543790"/>
            <a:ext cx="4582294" cy="1732527"/>
          </a:xfrm>
          <a:prstGeom prst="rect">
            <a:avLst/>
          </a:prstGeom>
        </p:spPr>
      </p:pic>
      <p:cxnSp>
        <p:nvCxnSpPr>
          <p:cNvPr id="395" name="Straight Arrow Connector 95">
            <a:extLst>
              <a:ext uri="{FF2B5EF4-FFF2-40B4-BE49-F238E27FC236}">
                <a16:creationId xmlns:a16="http://schemas.microsoft.com/office/drawing/2014/main" id="{D7F342D0-ADA3-2054-7865-FC15DCAC877A}"/>
              </a:ext>
            </a:extLst>
          </p:cNvPr>
          <p:cNvCxnSpPr>
            <a:cxnSpLocks/>
          </p:cNvCxnSpPr>
          <p:nvPr/>
        </p:nvCxnSpPr>
        <p:spPr>
          <a:xfrm>
            <a:off x="4892689" y="2085133"/>
            <a:ext cx="0" cy="764284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cxnSp>
        <p:nvCxnSpPr>
          <p:cNvPr id="399" name="Straight Connector 72">
            <a:extLst>
              <a:ext uri="{FF2B5EF4-FFF2-40B4-BE49-F238E27FC236}">
                <a16:creationId xmlns:a16="http://schemas.microsoft.com/office/drawing/2014/main" id="{3FE8492A-7D04-D09B-6484-97DD3ED35821}"/>
              </a:ext>
            </a:extLst>
          </p:cNvPr>
          <p:cNvCxnSpPr>
            <a:cxnSpLocks/>
          </p:cNvCxnSpPr>
          <p:nvPr/>
        </p:nvCxnSpPr>
        <p:spPr>
          <a:xfrm flipH="1">
            <a:off x="4892689" y="2085133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01" name="Straight Connector 72">
            <a:extLst>
              <a:ext uri="{FF2B5EF4-FFF2-40B4-BE49-F238E27FC236}">
                <a16:creationId xmlns:a16="http://schemas.microsoft.com/office/drawing/2014/main" id="{E5DDEB35-44CC-5EB4-8537-0AB989E67D3C}"/>
              </a:ext>
            </a:extLst>
          </p:cNvPr>
          <p:cNvCxnSpPr>
            <a:cxnSpLocks/>
          </p:cNvCxnSpPr>
          <p:nvPr/>
        </p:nvCxnSpPr>
        <p:spPr>
          <a:xfrm flipH="1">
            <a:off x="6036189" y="2085133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02" name="Straight Connector 72">
            <a:extLst>
              <a:ext uri="{FF2B5EF4-FFF2-40B4-BE49-F238E27FC236}">
                <a16:creationId xmlns:a16="http://schemas.microsoft.com/office/drawing/2014/main" id="{5BB990A6-830F-1489-EBF3-6BB05274A66F}"/>
              </a:ext>
            </a:extLst>
          </p:cNvPr>
          <p:cNvCxnSpPr>
            <a:cxnSpLocks/>
          </p:cNvCxnSpPr>
          <p:nvPr/>
        </p:nvCxnSpPr>
        <p:spPr>
          <a:xfrm flipH="1">
            <a:off x="6244216" y="2087466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03" name="Straight Connector 72">
            <a:extLst>
              <a:ext uri="{FF2B5EF4-FFF2-40B4-BE49-F238E27FC236}">
                <a16:creationId xmlns:a16="http://schemas.microsoft.com/office/drawing/2014/main" id="{4C955C2F-2562-7A83-2AAE-A73DE3C5B299}"/>
              </a:ext>
            </a:extLst>
          </p:cNvPr>
          <p:cNvCxnSpPr>
            <a:cxnSpLocks/>
          </p:cNvCxnSpPr>
          <p:nvPr/>
        </p:nvCxnSpPr>
        <p:spPr>
          <a:xfrm flipV="1">
            <a:off x="7485682" y="1882659"/>
            <a:ext cx="0" cy="202474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08" name="Straight Connector 72">
            <a:extLst>
              <a:ext uri="{FF2B5EF4-FFF2-40B4-BE49-F238E27FC236}">
                <a16:creationId xmlns:a16="http://schemas.microsoft.com/office/drawing/2014/main" id="{F9417ECA-A576-7349-77C5-8FD95EB2F622}"/>
              </a:ext>
            </a:extLst>
          </p:cNvPr>
          <p:cNvCxnSpPr>
            <a:cxnSpLocks/>
          </p:cNvCxnSpPr>
          <p:nvPr/>
        </p:nvCxnSpPr>
        <p:spPr>
          <a:xfrm>
            <a:off x="5242560" y="2400681"/>
            <a:ext cx="0" cy="474599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11" name="Straight Connector 72">
            <a:extLst>
              <a:ext uri="{FF2B5EF4-FFF2-40B4-BE49-F238E27FC236}">
                <a16:creationId xmlns:a16="http://schemas.microsoft.com/office/drawing/2014/main" id="{489C0583-499C-583F-0AAE-F27A2F98B786}"/>
              </a:ext>
            </a:extLst>
          </p:cNvPr>
          <p:cNvCxnSpPr>
            <a:cxnSpLocks/>
          </p:cNvCxnSpPr>
          <p:nvPr/>
        </p:nvCxnSpPr>
        <p:spPr>
          <a:xfrm flipH="1">
            <a:off x="5242560" y="2390541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12" name="Straight Connector 72">
            <a:extLst>
              <a:ext uri="{FF2B5EF4-FFF2-40B4-BE49-F238E27FC236}">
                <a16:creationId xmlns:a16="http://schemas.microsoft.com/office/drawing/2014/main" id="{F925407E-7B82-029B-17AD-D77329EE2DB2}"/>
              </a:ext>
            </a:extLst>
          </p:cNvPr>
          <p:cNvCxnSpPr>
            <a:cxnSpLocks/>
          </p:cNvCxnSpPr>
          <p:nvPr/>
        </p:nvCxnSpPr>
        <p:spPr>
          <a:xfrm flipH="1">
            <a:off x="7115055" y="2389946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13" name="Straight Connector 72">
            <a:extLst>
              <a:ext uri="{FF2B5EF4-FFF2-40B4-BE49-F238E27FC236}">
                <a16:creationId xmlns:a16="http://schemas.microsoft.com/office/drawing/2014/main" id="{5BCA3647-52B6-EFEB-9DD8-DED11F647D17}"/>
              </a:ext>
            </a:extLst>
          </p:cNvPr>
          <p:cNvCxnSpPr>
            <a:cxnSpLocks/>
          </p:cNvCxnSpPr>
          <p:nvPr/>
        </p:nvCxnSpPr>
        <p:spPr>
          <a:xfrm flipH="1">
            <a:off x="6235901" y="2390541"/>
            <a:ext cx="1241466" cy="0"/>
          </a:xfrm>
          <a:prstGeom prst="straightConnector1">
            <a:avLst/>
          </a:prstGeom>
          <a:ln>
            <a:solidFill>
              <a:srgbClr val="3F7699"/>
            </a:solidFill>
          </a:ln>
        </p:spPr>
      </p:cxnSp>
      <p:cxnSp>
        <p:nvCxnSpPr>
          <p:cNvPr id="416" name="Straight Arrow Connector 95">
            <a:extLst>
              <a:ext uri="{FF2B5EF4-FFF2-40B4-BE49-F238E27FC236}">
                <a16:creationId xmlns:a16="http://schemas.microsoft.com/office/drawing/2014/main" id="{DB236A74-99E2-0C7D-0356-8AB26F19B965}"/>
              </a:ext>
            </a:extLst>
          </p:cNvPr>
          <p:cNvCxnSpPr>
            <a:cxnSpLocks/>
          </p:cNvCxnSpPr>
          <p:nvPr/>
        </p:nvCxnSpPr>
        <p:spPr>
          <a:xfrm flipV="1">
            <a:off x="8356521" y="1882659"/>
            <a:ext cx="0" cy="507287"/>
          </a:xfrm>
          <a:prstGeom prst="straightConnector1">
            <a:avLst/>
          </a:prstGeom>
          <a:ln>
            <a:solidFill>
              <a:srgbClr val="3F7699"/>
            </a:solidFill>
            <a:tailEnd type="triangle" w="med" len="med"/>
          </a:ln>
        </p:spPr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0A1CD4A8-1425-F22A-EA66-B17DEA068438}"/>
              </a:ext>
            </a:extLst>
          </p:cNvPr>
          <p:cNvCxnSpPr>
            <a:cxnSpLocks/>
          </p:cNvCxnSpPr>
          <p:nvPr/>
        </p:nvCxnSpPr>
        <p:spPr>
          <a:xfrm>
            <a:off x="9640000" y="818616"/>
            <a:ext cx="0" cy="1973148"/>
          </a:xfrm>
          <a:prstGeom prst="line">
            <a:avLst/>
          </a:prstGeom>
          <a:ln w="19050" cap="flat" cmpd="sng" algn="ctr">
            <a:solidFill>
              <a:schemeClr val="tx2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082179E5-18D5-0A5E-D54B-B421D84B1F25}"/>
              </a:ext>
            </a:extLst>
          </p:cNvPr>
          <p:cNvCxnSpPr>
            <a:cxnSpLocks/>
          </p:cNvCxnSpPr>
          <p:nvPr/>
        </p:nvCxnSpPr>
        <p:spPr>
          <a:xfrm>
            <a:off x="8344656" y="2762565"/>
            <a:ext cx="1283024" cy="0"/>
          </a:xfrm>
          <a:prstGeom prst="line">
            <a:avLst/>
          </a:prstGeom>
          <a:ln w="19050" cap="flat" cmpd="sng" algn="ctr">
            <a:solidFill>
              <a:schemeClr val="tx2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DC7DCA3D-998C-2E20-EE41-677357C3D65D}"/>
              </a:ext>
            </a:extLst>
          </p:cNvPr>
          <p:cNvCxnSpPr>
            <a:cxnSpLocks/>
          </p:cNvCxnSpPr>
          <p:nvPr/>
        </p:nvCxnSpPr>
        <p:spPr>
          <a:xfrm flipV="1">
            <a:off x="8344656" y="2762565"/>
            <a:ext cx="0" cy="3988878"/>
          </a:xfrm>
          <a:prstGeom prst="line">
            <a:avLst/>
          </a:prstGeom>
          <a:ln w="19050" cap="flat" cmpd="sng" algn="ctr">
            <a:solidFill>
              <a:schemeClr val="tx2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35" name="Picture 434">
            <a:extLst>
              <a:ext uri="{FF2B5EF4-FFF2-40B4-BE49-F238E27FC236}">
                <a16:creationId xmlns:a16="http://schemas.microsoft.com/office/drawing/2014/main" id="{70EA9BCB-5DBB-4C28-ABBD-2878B71A0BE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07538" y="2357881"/>
            <a:ext cx="1211772" cy="4039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roup 307"/>
          <p:cNvGrpSpPr/>
          <p:nvPr/>
        </p:nvGrpSpPr>
        <p:grpSpPr>
          <a:xfrm>
            <a:off x="360" y="360"/>
            <a:ext cx="12306240" cy="7198200"/>
            <a:chOff x="360" y="360"/>
            <a:chExt cx="12306240" cy="7198200"/>
          </a:xfrm>
        </p:grpSpPr>
        <p:pic>
          <p:nvPicPr>
            <p:cNvPr id="309" name="Picture 3"/>
            <p:cNvPicPr/>
            <p:nvPr/>
          </p:nvPicPr>
          <p:blipFill>
            <a:blip r:embed="rId3">
              <a:alphaModFix amt="75000"/>
            </a:blip>
            <a:stretch/>
          </p:blipFill>
          <p:spPr>
            <a:xfrm>
              <a:off x="360" y="360"/>
              <a:ext cx="1219176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2" name="TextBox 14"/>
            <p:cNvSpPr/>
            <p:nvPr/>
          </p:nvSpPr>
          <p:spPr>
            <a:xfrm>
              <a:off x="2698290" y="288782"/>
              <a:ext cx="239508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IN" sz="2000" b="1" u="none" strike="noStrike" dirty="0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Times New Roman"/>
                </a:rPr>
                <a:t>Challenges</a:t>
              </a:r>
              <a:endParaRPr lang="en-US" sz="20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TextBox 16"/>
            <p:cNvSpPr/>
            <p:nvPr/>
          </p:nvSpPr>
          <p:spPr>
            <a:xfrm>
              <a:off x="7734600" y="197490"/>
              <a:ext cx="40176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IN" sz="2000" b="1" u="none" strike="noStrike" dirty="0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Times New Roman"/>
                </a:rPr>
                <a:t>         How we address them?</a:t>
              </a:r>
              <a:endParaRPr lang="en-US" sz="20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14" name="Picture 313"/>
            <p:cNvPicPr/>
            <p:nvPr/>
          </p:nvPicPr>
          <p:blipFill>
            <a:blip r:embed="rId4"/>
            <a:stretch/>
          </p:blipFill>
          <p:spPr>
            <a:xfrm>
              <a:off x="7315200" y="633240"/>
              <a:ext cx="4343400" cy="6152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5" name="Picture 314"/>
            <p:cNvPicPr/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61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457200" y="685800"/>
              <a:ext cx="6172200" cy="651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6" name="TextBox 315"/>
            <p:cNvSpPr txBox="1"/>
            <p:nvPr/>
          </p:nvSpPr>
          <p:spPr>
            <a:xfrm>
              <a:off x="10118340" y="1906920"/>
              <a:ext cx="192132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200" b="1" u="none" strike="noStrike" dirty="0">
                  <a:solidFill>
                    <a:srgbClr val="505085"/>
                  </a:solidFill>
                  <a:effectLst/>
                  <a:uFillTx/>
                  <a:latin typeface="Times New Roman"/>
                </a:rPr>
                <a:t>Semantic Search</a:t>
              </a:r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9743400" y="2080810"/>
              <a:ext cx="2035440" cy="47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Encoder based embeddings enable semantic search beyond exact keywords.</a:t>
              </a:r>
            </a:p>
          </p:txBody>
        </p:sp>
        <p:sp>
          <p:nvSpPr>
            <p:cNvPr id="318" name="TextBox 317"/>
            <p:cNvSpPr txBox="1"/>
            <p:nvPr/>
          </p:nvSpPr>
          <p:spPr>
            <a:xfrm>
              <a:off x="7491960" y="2396520"/>
              <a:ext cx="225144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100" b="1" u="none" strike="noStrike" dirty="0">
                  <a:solidFill>
                    <a:srgbClr val="A1627D"/>
                  </a:solidFill>
                  <a:effectLst/>
                  <a:uFillTx/>
                  <a:latin typeface="Arial"/>
                </a:rPr>
                <a:t>Multimodal Retrieval</a:t>
              </a:r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7341120" y="2552585"/>
              <a:ext cx="1828080" cy="506377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and satellite images share one embedding space for unified retrieval.</a:t>
              </a:r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9828000" y="2935800"/>
              <a:ext cx="2478600" cy="3862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000" b="1" u="none" strike="noStrike" dirty="0">
                  <a:solidFill>
                    <a:srgbClr val="5B85AD"/>
                  </a:solidFill>
                  <a:effectLst/>
                  <a:uFillTx/>
                  <a:latin typeface="Times New Roman"/>
                </a:rPr>
                <a:t>Sensor &amp; Resolution Handling</a:t>
              </a: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9786600" y="3099240"/>
              <a:ext cx="1864800" cy="47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Metadata-aware ingestion normalizes data across sensors, bands, and resolutions.</a:t>
              </a:r>
            </a:p>
          </p:txBody>
        </p:sp>
        <p:sp>
          <p:nvSpPr>
            <p:cNvPr id="322" name="TextBox 321"/>
            <p:cNvSpPr txBox="1"/>
            <p:nvPr/>
          </p:nvSpPr>
          <p:spPr>
            <a:xfrm>
              <a:off x="7430040" y="3470533"/>
              <a:ext cx="274716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100" b="1" u="none" strike="noStrike" dirty="0">
                  <a:solidFill>
                    <a:srgbClr val="748855"/>
                  </a:solidFill>
                  <a:effectLst/>
                  <a:uFillTx/>
                  <a:latin typeface="Times New Roman"/>
                </a:rPr>
                <a:t>False-Alarm Suppression</a:t>
              </a:r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7381440" y="3605050"/>
              <a:ext cx="1760760" cy="47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Two-tier quality filtering removes clouds, noise, seasonal variation, and spurious changes.</a:t>
              </a: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9779400" y="3998670"/>
              <a:ext cx="237060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100" b="1" u="none" strike="noStrike" dirty="0">
                  <a:solidFill>
                    <a:srgbClr val="A9924B"/>
                  </a:solidFill>
                  <a:effectLst/>
                  <a:uFillTx/>
                  <a:latin typeface="Times New Roman"/>
                </a:rPr>
                <a:t>Change-Type Classification</a:t>
              </a:r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9828000" y="4168300"/>
              <a:ext cx="1739160" cy="47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Spectral deltas and semantic models classify detected changes into tactical categories.</a:t>
              </a: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7601400" y="4551840"/>
              <a:ext cx="160020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100" b="1" u="none" strike="noStrike">
                  <a:solidFill>
                    <a:srgbClr val="AA6466"/>
                  </a:solidFill>
                  <a:effectLst/>
                  <a:uFillTx/>
                  <a:latin typeface="Times New Roman"/>
                </a:rPr>
                <a:t>Offline Processing</a:t>
              </a:r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7385400" y="4715280"/>
              <a:ext cx="1816200" cy="47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Local models and data enable secure operation without external network access.</a:t>
              </a:r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9915120" y="5065200"/>
              <a:ext cx="1743480" cy="245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100" b="1" u="none" strike="noStrike">
                  <a:solidFill>
                    <a:srgbClr val="505085"/>
                  </a:solidFill>
                  <a:effectLst/>
                  <a:uFillTx/>
                  <a:latin typeface="Times New Roman"/>
                </a:rPr>
                <a:t>Archive-Scale Discovery</a:t>
              </a:r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9829800" y="5217340"/>
              <a:ext cx="1828800" cy="597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Vector indexing and clustering support efficient search across growing archives.</a:t>
              </a:r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7362140" y="5632490"/>
              <a:ext cx="283608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r>
                <a:rPr lang="en-US" sz="1100" b="1" u="none" strike="noStrike" dirty="0">
                  <a:solidFill>
                    <a:srgbClr val="5B85AD"/>
                  </a:solidFill>
                  <a:effectLst/>
                  <a:uFillTx/>
                  <a:latin typeface="Times New Roman"/>
                </a:rPr>
                <a:t>Multi-Temporal Reasoning</a:t>
              </a:r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7285820" y="5765980"/>
              <a:ext cx="1951200" cy="47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en-US" sz="900" b="0" u="none" strike="noStrike" dirty="0">
                  <a:solidFill>
                    <a:srgbClr val="374151"/>
                  </a:solidFill>
                  <a:effectLst/>
                  <a:uFillTx/>
                  <a:latin typeface="Times New Roman"/>
                </a:rPr>
                <a:t>Multi-date analysis identifies when and where meaningful changes emerge.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014133-EC71-D3FB-FD0E-DD0C0E6DE48C}"/>
              </a:ext>
            </a:extLst>
          </p:cNvPr>
          <p:cNvSpPr txBox="1"/>
          <p:nvPr/>
        </p:nvSpPr>
        <p:spPr>
          <a:xfrm>
            <a:off x="2779020" y="1011115"/>
            <a:ext cx="1963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rgbClr val="725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D0D1E-BF3C-8EC4-4BFA-A2FE63FECB09}"/>
              </a:ext>
            </a:extLst>
          </p:cNvPr>
          <p:cNvSpPr txBox="1"/>
          <p:nvPr/>
        </p:nvSpPr>
        <p:spPr>
          <a:xfrm>
            <a:off x="2911100" y="1189090"/>
            <a:ext cx="17195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cannot express concepts like “new structures near river”.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98176-242E-8591-0664-C4FB56139DB0}"/>
              </a:ext>
            </a:extLst>
          </p:cNvPr>
          <p:cNvSpPr txBox="1"/>
          <p:nvPr/>
        </p:nvSpPr>
        <p:spPr>
          <a:xfrm>
            <a:off x="5174100" y="1854405"/>
            <a:ext cx="12978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rgbClr val="7258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Retrieval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6BB24-1AD9-352B-9F23-BE23E14CEB91}"/>
              </a:ext>
            </a:extLst>
          </p:cNvPr>
          <p:cNvSpPr txBox="1"/>
          <p:nvPr/>
        </p:nvSpPr>
        <p:spPr>
          <a:xfrm>
            <a:off x="5096140" y="2184858"/>
            <a:ext cx="1434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and image queries need a common representation</a:t>
            </a:r>
            <a:r>
              <a:rPr lang="en-IN" sz="900" dirty="0">
                <a:solidFill>
                  <a:srgbClr val="374151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61FFA-626E-833E-0EA8-965CE0788DF9}"/>
              </a:ext>
            </a:extLst>
          </p:cNvPr>
          <p:cNvSpPr txBox="1"/>
          <p:nvPr/>
        </p:nvSpPr>
        <p:spPr>
          <a:xfrm>
            <a:off x="5608054" y="3246594"/>
            <a:ext cx="1069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741E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&amp; Resolution Variability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631BD-5F5F-3E62-D43C-3BC9674AD80C}"/>
              </a:ext>
            </a:extLst>
          </p:cNvPr>
          <p:cNvSpPr txBox="1"/>
          <p:nvPr/>
        </p:nvSpPr>
        <p:spPr>
          <a:xfrm>
            <a:off x="4956420" y="3777834"/>
            <a:ext cx="164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sensors have varying bands and spatial resolutions.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BC27FF-BD52-44F9-1C7C-0B74F4EA63D8}"/>
              </a:ext>
            </a:extLst>
          </p:cNvPr>
          <p:cNvSpPr txBox="1"/>
          <p:nvPr/>
        </p:nvSpPr>
        <p:spPr>
          <a:xfrm>
            <a:off x="5284799" y="4808775"/>
            <a:ext cx="1335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rgbClr val="1E4A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Pseudo-Changes (False Alarms)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61A8A-3F45-D8E9-F5EC-DCB744603414}"/>
              </a:ext>
            </a:extLst>
          </p:cNvPr>
          <p:cNvSpPr txBox="1"/>
          <p:nvPr/>
        </p:nvSpPr>
        <p:spPr>
          <a:xfrm>
            <a:off x="4984350" y="5185800"/>
            <a:ext cx="1586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Clouds, shadows, haze, seasons, and misregistration can mimic real change.</a:t>
            </a:r>
          </a:p>
          <a:p>
            <a:pPr algn="ctr"/>
            <a:endParaRPr lang="en-IN" sz="9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130C1-7E5D-9E7E-25E6-352A709D48F4}"/>
              </a:ext>
            </a:extLst>
          </p:cNvPr>
          <p:cNvSpPr txBox="1"/>
          <p:nvPr/>
        </p:nvSpPr>
        <p:spPr>
          <a:xfrm>
            <a:off x="2139507" y="6088684"/>
            <a:ext cx="28701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1" dirty="0">
                <a:solidFill>
                  <a:srgbClr val="1E0F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Mismatch in Change Types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5DABC-2DAD-51DE-B77D-4282D9BE9E96}"/>
              </a:ext>
            </a:extLst>
          </p:cNvPr>
          <p:cNvSpPr txBox="1"/>
          <p:nvPr/>
        </p:nvSpPr>
        <p:spPr>
          <a:xfrm>
            <a:off x="2434986" y="6257659"/>
            <a:ext cx="2279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benchmark datasets rarely match the project’s exact four categories out of the box.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3F059E-D81F-913E-F863-AF1091850B36}"/>
              </a:ext>
            </a:extLst>
          </p:cNvPr>
          <p:cNvSpPr txBox="1"/>
          <p:nvPr/>
        </p:nvSpPr>
        <p:spPr>
          <a:xfrm>
            <a:off x="672983" y="4898520"/>
            <a:ext cx="1208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rgbClr val="164B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Compliance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E69DC3-79F0-7AE3-3EE4-7D1D43E998DD}"/>
              </a:ext>
            </a:extLst>
          </p:cNvPr>
          <p:cNvSpPr txBox="1"/>
          <p:nvPr/>
        </p:nvSpPr>
        <p:spPr>
          <a:xfrm>
            <a:off x="467432" y="5252864"/>
            <a:ext cx="18480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 libraries may attempt network calls even when weights are cached locally.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13C130-D6CA-64F3-FB9E-6A0069E187A2}"/>
              </a:ext>
            </a:extLst>
          </p:cNvPr>
          <p:cNvSpPr txBox="1"/>
          <p:nvPr/>
        </p:nvSpPr>
        <p:spPr>
          <a:xfrm>
            <a:off x="544482" y="3269677"/>
            <a:ext cx="93887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751F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with Archive Growth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41A06F-20EE-77FC-54C9-C6C60F31A818}"/>
              </a:ext>
            </a:extLst>
          </p:cNvPr>
          <p:cNvSpPr txBox="1"/>
          <p:nvPr/>
        </p:nvSpPr>
        <p:spPr>
          <a:xfrm>
            <a:off x="462280" y="3734594"/>
            <a:ext cx="1642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re-indexing or re-clustering slows down as imagery grows.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9DA5DC-1F1E-1C86-C419-31A02086B9F8}"/>
              </a:ext>
            </a:extLst>
          </p:cNvPr>
          <p:cNvSpPr txBox="1"/>
          <p:nvPr/>
        </p:nvSpPr>
        <p:spPr>
          <a:xfrm>
            <a:off x="560063" y="1928121"/>
            <a:ext cx="143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rgbClr val="1E4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Multi-Temporal Reasoning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F251B7-A3A2-413B-635D-DB2064DA366A}"/>
              </a:ext>
            </a:extLst>
          </p:cNvPr>
          <p:cNvSpPr txBox="1"/>
          <p:nvPr/>
        </p:nvSpPr>
        <p:spPr>
          <a:xfrm>
            <a:off x="533400" y="2265975"/>
            <a:ext cx="164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images only describe a pairwise difference.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D1EB31-D4C6-64DF-9C0D-929AA8369B50}"/>
              </a:ext>
            </a:extLst>
          </p:cNvPr>
          <p:cNvSpPr txBox="1"/>
          <p:nvPr/>
        </p:nvSpPr>
        <p:spPr>
          <a:xfrm>
            <a:off x="2914704" y="3189551"/>
            <a:ext cx="1208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&amp;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rgbClr val="000000"/>
      </a:dk1>
      <a:lt1>
        <a:srgbClr val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11202</TotalTime>
  <Words>611</Words>
  <Application>Microsoft Office PowerPoint</Application>
  <PresentationFormat>Widescreen</PresentationFormat>
  <Paragraphs>77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Arial</vt:lpstr>
      <vt:lpstr>Calibri</vt:lpstr>
      <vt:lpstr>Haettenschweiler</vt:lpstr>
      <vt:lpstr>Symbol</vt:lpstr>
      <vt:lpstr>Times New Roman</vt:lpstr>
      <vt:lpstr>Trade Gothic Next Light</vt:lpstr>
      <vt:lpstr>Wingdings</vt:lpstr>
      <vt:lpstr>Editorial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Nitya Bhavsar</cp:lastModifiedBy>
  <cp:revision>175</cp:revision>
  <dcterms:created xsi:type="dcterms:W3CDTF">2013-12-12T18:46:50Z</dcterms:created>
  <dcterms:modified xsi:type="dcterms:W3CDTF">2026-10-12T01:46:48Z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